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537ae878bd4062" /><Relationship Type="http://schemas.openxmlformats.org/officeDocument/2006/relationships/extended-properties" Target="/docProps/app.xml" Id="R443f4bf14d2545db" /><Relationship Type="http://schemas.openxmlformats.org/officeDocument/2006/relationships/officeDocument" Target="/ppt/presentation.xml" Id="Rdd1d0f6640e845e8" /></Relationships>
</file>

<file path=ppt/presentation.xml><?xml version="1.0" encoding="utf-8"?>
<p:presentation xmlns:p="http://schemas.openxmlformats.org/presentationml/2006/main">
  <p:sldMasterIdLst>
    <p:sldMasterId xmlns:r="http://schemas.openxmlformats.org/officeDocument/2006/relationships" id="2147483648" r:id="R379631121582466e"/>
  </p:sldMasterIdLst>
  <p:notesMasterIdLst>
    <p:notesMasterId xmlns:r="http://schemas.openxmlformats.org/officeDocument/2006/relationships" r:id="R73204d43fc2c4f61"/>
  </p:notesMasterIdLst>
  <p:sldIdLst>
    <p:sldId xmlns:r="http://schemas.openxmlformats.org/officeDocument/2006/relationships" id="256" r:id="R415b9676cbb94e41"/>
    <p:sldId xmlns:r="http://schemas.openxmlformats.org/officeDocument/2006/relationships" id="257" r:id="R77862ad681a64aa5"/>
    <p:sldId xmlns:r="http://schemas.openxmlformats.org/officeDocument/2006/relationships" id="258" r:id="Rc1c603ac11aa4690"/>
    <p:sldId xmlns:r="http://schemas.openxmlformats.org/officeDocument/2006/relationships" id="259" r:id="R7407546bdf8d410c"/>
    <p:sldId xmlns:r="http://schemas.openxmlformats.org/officeDocument/2006/relationships" id="260" r:id="Rbb1158adcc4f42dc"/>
    <p:sldId xmlns:r="http://schemas.openxmlformats.org/officeDocument/2006/relationships" id="261" r:id="Rd53c6c343c0f4674"/>
    <p:sldId xmlns:r="http://schemas.openxmlformats.org/officeDocument/2006/relationships" id="262" r:id="R2df62844c6d84337"/>
    <p:sldId xmlns:r="http://schemas.openxmlformats.org/officeDocument/2006/relationships" id="263" r:id="Reaec7dfef64a46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e72816517c4535" /><Relationship Type="http://schemas.openxmlformats.org/officeDocument/2006/relationships/slideMaster" Target="/ppt/slideMasters/slideMaster1.xml" Id="R379631121582466e" /><Relationship Type="http://schemas.openxmlformats.org/officeDocument/2006/relationships/notesMaster" Target="/ppt/notesMasters/notesMaster1.xml" Id="R73204d43fc2c4f61" /><Relationship Type="http://schemas.openxmlformats.org/officeDocument/2006/relationships/presProps" Target="/ppt/presProps.xml" Id="Rf8f8055d6d77420a" /><Relationship Type="http://schemas.openxmlformats.org/officeDocument/2006/relationships/tableStyles" Target="/ppt/tableStyles.xml" Id="Rcb0eaa59c7b54a42" /><Relationship Type="http://schemas.openxmlformats.org/officeDocument/2006/relationships/slide" Target="/ppt/slides/slide1.xml" Id="R415b9676cbb94e41" /><Relationship Type="http://schemas.openxmlformats.org/officeDocument/2006/relationships/slide" Target="/ppt/slides/slide2.xml" Id="R77862ad681a64aa5" /><Relationship Type="http://schemas.openxmlformats.org/officeDocument/2006/relationships/slide" Target="/ppt/slides/slide3.xml" Id="Rc1c603ac11aa4690" /><Relationship Type="http://schemas.openxmlformats.org/officeDocument/2006/relationships/slide" Target="/ppt/slides/slide4.xml" Id="R7407546bdf8d410c" /><Relationship Type="http://schemas.openxmlformats.org/officeDocument/2006/relationships/slide" Target="/ppt/slides/slide5.xml" Id="Rbb1158adcc4f42dc" /><Relationship Type="http://schemas.openxmlformats.org/officeDocument/2006/relationships/slide" Target="/ppt/slides/slide6.xml" Id="Rd53c6c343c0f4674" /><Relationship Type="http://schemas.openxmlformats.org/officeDocument/2006/relationships/slide" Target="/ppt/slides/slide7.xml" Id="R2df62844c6d84337" /><Relationship Type="http://schemas.openxmlformats.org/officeDocument/2006/relationships/slide" Target="/ppt/slides/slide8.xml" Id="Reaec7dfef64a46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790374279a45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1c873ddba841b5" /><Relationship Type="http://schemas.openxmlformats.org/officeDocument/2006/relationships/notesMaster" Target="/ppt/notesMasters/notesMaster1.xml" Id="Rda528b5ba0b744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fe329eb19941e7" /><Relationship Type="http://schemas.openxmlformats.org/officeDocument/2006/relationships/notesMaster" Target="/ppt/notesMasters/notesMaster1.xml" Id="R657f7b5163364b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65a0feac1540bb" /><Relationship Type="http://schemas.openxmlformats.org/officeDocument/2006/relationships/notesMaster" Target="/ppt/notesMasters/notesMaster1.xml" Id="Rbac48553427d43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6dd6cd17884467" /><Relationship Type="http://schemas.openxmlformats.org/officeDocument/2006/relationships/notesMaster" Target="/ppt/notesMasters/notesMaster1.xml" Id="Rc667a43e4d114e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a1cf2be53d47bd" /><Relationship Type="http://schemas.openxmlformats.org/officeDocument/2006/relationships/notesMaster" Target="/ppt/notesMasters/notesMaster1.xml" Id="Re5a4e9cba2544f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e2f3f609224ee9" /><Relationship Type="http://schemas.openxmlformats.org/officeDocument/2006/relationships/notesMaster" Target="/ppt/notesMasters/notesMaster1.xml" Id="Ra1851cae10b44d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b3ca699cff48b0" /><Relationship Type="http://schemas.openxmlformats.org/officeDocument/2006/relationships/notesMaster" Target="/ppt/notesMasters/notesMaster1.xml" Id="Reb2ba458a5554d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d78f093a164078" /><Relationship Type="http://schemas.openxmlformats.org/officeDocument/2006/relationships/notesMaster" Target="/ppt/notesMasters/notesMaster1.xml" Id="R2ab613ac85684d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product status: Maia Chat and Maia RAG are online today. The purpose of the conversation is to show how those products sit on top of a broader technical platform and how investment can accelerate productization and commercial pilots.</a:t>
            </a:r>
          </a:p>
          <a:p xmlns:a="http://schemas.openxmlformats.org/drawingml/2006/main">
            <a:r>
              <a:t/>
            </a:r>
          </a:p>
          <a:p xmlns:a="http://schemas.openxmlformats.org/drawingml/2006/main">
            <a:r>
              <a:t>Sources: https://www.maiaplatform.org/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need in operational terms. Avoid abstract AI claims. The buyer needs a coherent route from private documents to useful answers, with deployment choices that fit institutional governance. Maia Platform already connects these 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architecture. Maia RAG converts institutional content into retrievable knowledge. Maia Chat turns that knowledge into a usable conversation. Maia Edge provides the deployment pattern for publishing services without giving up local compute and data ownership.</a:t>
            </a:r>
          </a:p>
          <a:p xmlns:a="http://schemas.openxmlformats.org/drawingml/2006/main">
            <a:r>
              <a:t/>
            </a:r>
          </a:p>
          <a:p xmlns:a="http://schemas.openxmlformats.org/drawingml/2006/main">
            <a:r>
              <a:t>Sources: https://www.maiaplatform.org/ | https://github.com/souzamonteiro/maia-edge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Maia Chat live if the connection is stable. Show the language selector, local model selection and a document collection. The important point is that this is a usable product, not a concept or static prototype.</a:t>
            </a:r>
          </a:p>
          <a:p xmlns:a="http://schemas.openxmlformats.org/drawingml/2006/main">
            <a:r>
              <a:t/>
            </a:r>
          </a:p>
          <a:p xmlns:a="http://schemas.openxmlformats.org/drawingml/2006/main">
            <a:r>
              <a:t>Sources: https://chat.maiaplatform.org/ | https://github.com/souzamonteiro/maia-chat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RAG without jargon: the system finds relevant material before the model answers. This makes institutional documents usable and reduces dependence on what the base model happened to learn during training. Curator access is protected, which is appropriate for administration.</a:t>
            </a:r>
          </a:p>
          <a:p xmlns:a="http://schemas.openxmlformats.org/drawingml/2006/main">
            <a:r>
              <a:t/>
            </a:r>
          </a:p>
          <a:p xmlns:a="http://schemas.openxmlformats.org/drawingml/2006/main">
            <a:r>
              <a:t>Sources: https://www.maiaplatform.org/ | https://rag.maiaplatform.org/ | https://github.com/souzamonteiro/maia-rag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defensibility comes from integration and accumulated engineering. Maia Chat and Maia RAG are the most visible products, but they benefit from compiler, data, scientific computing and deployment work already present in the ecosystem.</a:t>
            </a:r>
          </a:p>
          <a:p xmlns:a="http://schemas.openxmlformats.org/drawingml/2006/main">
            <a:r>
              <a:t/>
            </a:r>
          </a:p>
          <a:p xmlns:a="http://schemas.openxmlformats.org/drawingml/2006/main">
            <a:r>
              <a:t>Sources: https://www.maiaplatform.org/ | https://www.robertomonteiro.net/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hypotheses, not as established revenue lines. A sensible first step is a small number of paid pilots in organizations where data control and local deployment matter. Use pilot feedback to select the strongest segment and pricing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concrete invitation: discuss the investor’s strategic fit, identify one or two pilot environments and agree on the diligence information needed for a second meeting. If asked about the investment amount, explain that the funding plan should follow the chosen pilot scope and commercial milestones.</a:t>
            </a:r>
          </a:p>
          <a:p xmlns:a="http://schemas.openxmlformats.org/drawingml/2006/main">
            <a:r>
              <a:t/>
            </a:r>
          </a:p>
          <a:p xmlns:a="http://schemas.openxmlformats.org/drawingml/2006/main">
            <a:r>
              <a:t>Sources: https://chat.maiaplatform.org/ | https://rag.maiaplatform.org/ | https://www.maiaplatform.org/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57bb42f5c949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059b31a9c24d53" /><Relationship Type="http://schemas.openxmlformats.org/officeDocument/2006/relationships/slideLayout" Target="/ppt/slideLayouts/slideLayout1.xml" Id="R02632ca3a0d744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632ca3a0d744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1f2b1002e84c19" /><Relationship Type="http://schemas.openxmlformats.org/officeDocument/2006/relationships/image" Target="/ppt/media/image.png" Id="R49e85e7ca7484c76" /><Relationship Type="http://schemas.openxmlformats.org/officeDocument/2006/relationships/notesSlide" Target="/ppt/notesSlides/notesSlide1.xml" Id="Rb8cf09d898ec42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d5fc2bbc9a46ff" /><Relationship Type="http://schemas.openxmlformats.org/officeDocument/2006/relationships/notesSlide" Target="/ppt/notesSlides/notesSlide2.xml" Id="Rfb43324420154c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2b2f34a52c43d6" /><Relationship Type="http://schemas.openxmlformats.org/officeDocument/2006/relationships/notesSlide" Target="/ppt/notesSlides/notesSlide3.xml" Id="Rbc8b3faff38148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3f5780700e4aaa" /><Relationship Type="http://schemas.openxmlformats.org/officeDocument/2006/relationships/notesSlide" Target="/ppt/notesSlides/notesSlide4.xml" Id="R9cf85afab6cf40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1b37c542eb4f9d" /><Relationship Type="http://schemas.openxmlformats.org/officeDocument/2006/relationships/notesSlide" Target="/ppt/notesSlides/notesSlide5.xml" Id="R794c380bd2394b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fb35d62de94265" /><Relationship Type="http://schemas.openxmlformats.org/officeDocument/2006/relationships/notesSlide" Target="/ppt/notesSlides/notesSlide6.xml" Id="R03a9f0e450ac4f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952bd59ad24f51" /><Relationship Type="http://schemas.openxmlformats.org/officeDocument/2006/relationships/notesSlide" Target="/ppt/notesSlides/notesSlide7.xml" Id="R5fab2e0439c44a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729c4ccc66412f" /><Relationship Type="http://schemas.openxmlformats.org/officeDocument/2006/relationships/notesSlide" Target="/ppt/notesSlides/notesSlide8.xml" Id="Ra4a370b49f7f4fb9" /></Relationships>
</file>

<file path=ppt/slides/slide1.xml><?xml version="1.0" encoding="utf-8"?>
<p:sld xmlns:p="http://schemas.openxmlformats.org/presentationml/2006/main">
  <p:cSld>
    <p:bg>
      <p:bgPr>
        <a:solidFill xmlns:a="http://schemas.openxmlformats.org/drawingml/2006/main">
          <a:srgbClr val="050B0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9e85e7ca7484c76"/>
          <a:srcRect xmlns:a="http://schemas.openxmlformats.org/drawingml/2006/main" l="24815" t="0" r="24815" b="0"/>
          <a:stretch xmlns:a="http://schemas.openxmlformats.org/drawingml/2006/main">
            <a:fillRect l="0" t="0" r="0" b="0"/>
          </a:stretch>
        </p:blipFill>
        <p:spPr>
          <a:xfrm xmlns:a="http://schemas.openxmlformats.org/drawingml/2006/main">
            <a:off x="7010400" y="0"/>
            <a:ext cx="51816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A860E73-4B59-40D4-924B-5DA9EF9536DB}"/>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050B0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22589B-7C58-4487-B10A-D53813F8F77D}"/>
              </a:ext>
            </a:extLst>
          </p:cNvPr>
          <p:cNvSpPr>
            <a:spLocks xmlns:a="http://schemas.openxmlformats.org/drawingml/2006/main" noGrp="1"/>
          </p:cNvSpPr>
          <p:nvPr/>
        </p:nvSpPr>
        <p:spPr>
          <a:xfrm xmlns:a="http://schemas.openxmlformats.org/drawingml/2006/main">
            <a:off x="590550" y="666750"/>
            <a:ext cx="495300" cy="495300"/>
          </a:xfrm>
          <a:prstGeom xmlns:a="http://schemas.openxmlformats.org/drawingml/2006/main" prst="roundRect">
            <a:avLst>
              <a:gd name="adj" fmla="val 26923"/>
            </a:avLst>
          </a:prstGeom>
          <a:solidFill xmlns:a="http://schemas.openxmlformats.org/drawingml/2006/main">
            <a:srgbClr val="49F3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A50D483-6FC7-412B-8A83-1BBF77F3A688}"/>
              </a:ext>
            </a:extLst>
          </p:cNvPr>
          <p:cNvSpPr>
            <a:spLocks xmlns:a="http://schemas.openxmlformats.org/drawingml/2006/main" noGrp="1"/>
          </p:cNvSpPr>
          <p:nvPr/>
        </p:nvSpPr>
        <p:spPr>
          <a:xfrm xmlns:a="http://schemas.openxmlformats.org/drawingml/2006/main">
            <a:off x="723900" y="752475"/>
            <a:ext cx="247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04100B"/>
                </a:solidFill>
                <a:latin typeface="DejaVu Sans"/>
                <a:ea typeface="DejaVu Sans"/>
                <a:cs typeface="DejaVu Sans"/>
              </a:defRPr>
            </a:pPr>
            <a:r>
              <a:rPr sz="1725" b="1">
                <a:solidFill>
                  <a:srgbClr val="04100B"/>
                </a:solidFill>
                <a:latin typeface="DejaVu Sans"/>
                <a:ea typeface="DejaVu Sans"/>
                <a:cs typeface="DejaVu Sans"/>
              </a:rPr>
              <a:t>M</a:t>
            </a:r>
          </a:p>
        </p:txBody>
      </p:sp>
      <p:sp>
        <p:nvSpPr>
          <p:cNvPr id="5" name="">
            <a:extLst xmlns:a="http://schemas.openxmlformats.org/drawingml/2006/main">
              <a:ext uri="{FF2B5EF4-FFF2-40B4-BE49-F238E27FC236}">
                <a16:creationId xmlns:a16="http://schemas.microsoft.com/office/drawing/2014/main" id="{FDE5C847-EFB7-43ED-B244-F34BD4929E8C}"/>
              </a:ext>
            </a:extLst>
          </p:cNvPr>
          <p:cNvSpPr>
            <a:spLocks xmlns:a="http://schemas.openxmlformats.org/drawingml/2006/main" noGrp="1"/>
          </p:cNvSpPr>
          <p:nvPr/>
        </p:nvSpPr>
        <p:spPr>
          <a:xfrm xmlns:a="http://schemas.openxmlformats.org/drawingml/2006/main">
            <a:off x="1238250" y="8001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49F39A"/>
                </a:solidFill>
                <a:latin typeface="DejaVu Sans"/>
                <a:ea typeface="DejaVu Sans"/>
                <a:cs typeface="DejaVu Sans"/>
              </a:defRPr>
            </a:pPr>
            <a:r>
              <a:rPr sz="1275" b="1">
                <a:solidFill>
                  <a:srgbClr val="49F39A"/>
                </a:solidFill>
                <a:latin typeface="DejaVu Sans"/>
                <a:ea typeface="DejaVu Sans"/>
                <a:cs typeface="DejaVu Sans"/>
              </a:rPr>
              <a:t>MAIA PLATFORM</a:t>
            </a:r>
          </a:p>
        </p:txBody>
      </p:sp>
      <p:sp>
        <p:nvSpPr>
          <p:cNvPr id="6" name="">
            <a:extLst xmlns:a="http://schemas.openxmlformats.org/drawingml/2006/main">
              <a:ext uri="{FF2B5EF4-FFF2-40B4-BE49-F238E27FC236}">
                <a16:creationId xmlns:a16="http://schemas.microsoft.com/office/drawing/2014/main" id="{4A983F4C-202D-4E51-A311-BA313A387F96}"/>
              </a:ext>
            </a:extLst>
          </p:cNvPr>
          <p:cNvSpPr>
            <a:spLocks xmlns:a="http://schemas.openxmlformats.org/drawingml/2006/main" noGrp="1"/>
          </p:cNvSpPr>
          <p:nvPr/>
        </p:nvSpPr>
        <p:spPr>
          <a:xfrm xmlns:a="http://schemas.openxmlformats.org/drawingml/2006/main">
            <a:off x="590550" y="1866900"/>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EEFBF5"/>
                </a:solidFill>
                <a:latin typeface="DejaVu Sans"/>
                <a:ea typeface="DejaVu Sans"/>
                <a:cs typeface="DejaVu Sans"/>
              </a:defRPr>
            </a:pPr>
            <a:r>
              <a:rPr sz="3675" b="1">
                <a:solidFill>
                  <a:srgbClr val="EEFBF5"/>
                </a:solidFill>
                <a:latin typeface="DejaVu Sans"/>
                <a:ea typeface="DejaVu Sans"/>
                <a:cs typeface="DejaVu Sans"/>
              </a:rPr>
              <a:t>Open intelligence,</a:t>
            </a:r>
          </a:p>
          <a:p xmlns:a="http://schemas.openxmlformats.org/drawingml/2006/main">
            <a:pPr>
              <a:defRPr sz="3675" b="1">
                <a:solidFill>
                  <a:srgbClr val="EEFBF5"/>
                </a:solidFill>
                <a:latin typeface="DejaVu Sans"/>
                <a:ea typeface="DejaVu Sans"/>
                <a:cs typeface="DejaVu Sans"/>
              </a:defRPr>
            </a:pPr>
            <a:r>
              <a:rPr sz="3675" b="1">
                <a:solidFill>
                  <a:srgbClr val="EEFBF5"/>
                </a:solidFill>
                <a:latin typeface="DejaVu Sans"/>
                <a:ea typeface="DejaVu Sans"/>
                <a:cs typeface="DejaVu Sans"/>
              </a:rPr>
              <a:t>close to your data</a:t>
            </a:r>
          </a:p>
        </p:txBody>
      </p:sp>
      <p:sp>
        <p:nvSpPr>
          <p:cNvPr id="7" name="">
            <a:extLst xmlns:a="http://schemas.openxmlformats.org/drawingml/2006/main">
              <a:ext uri="{FF2B5EF4-FFF2-40B4-BE49-F238E27FC236}">
                <a16:creationId xmlns:a16="http://schemas.microsoft.com/office/drawing/2014/main" id="{F44633C2-D1BB-4759-84C4-B0CDC772CADD}"/>
              </a:ext>
            </a:extLst>
          </p:cNvPr>
          <p:cNvSpPr>
            <a:spLocks xmlns:a="http://schemas.openxmlformats.org/drawingml/2006/main" noGrp="1"/>
          </p:cNvSpPr>
          <p:nvPr/>
        </p:nvSpPr>
        <p:spPr>
          <a:xfrm xmlns:a="http://schemas.openxmlformats.org/drawingml/2006/main">
            <a:off x="609600" y="38481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E9FF"/>
                </a:solidFill>
                <a:latin typeface="DejaVu Sans"/>
                <a:ea typeface="DejaVu Sans"/>
                <a:cs typeface="DejaVu Sans"/>
              </a:defRPr>
            </a:pPr>
            <a:r>
              <a:rPr sz="1800" b="0">
                <a:solidFill>
                  <a:srgbClr val="62E9FF"/>
                </a:solidFill>
                <a:latin typeface="DejaVu Sans"/>
                <a:ea typeface="DejaVu Sans"/>
                <a:cs typeface="DejaVu Sans"/>
              </a:rPr>
              <a:t>Investor brief</a:t>
            </a:r>
          </a:p>
        </p:txBody>
      </p:sp>
      <p:sp>
        <p:nvSpPr>
          <p:cNvPr id="8" name="">
            <a:extLst xmlns:a="http://schemas.openxmlformats.org/drawingml/2006/main">
              <a:ext uri="{FF2B5EF4-FFF2-40B4-BE49-F238E27FC236}">
                <a16:creationId xmlns:a16="http://schemas.microsoft.com/office/drawing/2014/main" id="{FD6572BB-18D9-47BA-B0A5-65257C2E0CA2}"/>
              </a:ext>
            </a:extLst>
          </p:cNvPr>
          <p:cNvSpPr>
            <a:spLocks xmlns:a="http://schemas.openxmlformats.org/drawingml/2006/main" noGrp="1"/>
          </p:cNvSpPr>
          <p:nvPr/>
        </p:nvSpPr>
        <p:spPr>
          <a:xfrm xmlns:a="http://schemas.openxmlformats.org/drawingml/2006/main">
            <a:off x="609600" y="4419600"/>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AB7AA"/>
                </a:solidFill>
                <a:latin typeface="DejaVu Sans"/>
                <a:ea typeface="DejaVu Sans"/>
                <a:cs typeface="DejaVu Sans"/>
              </a:defRPr>
            </a:pPr>
            <a:r>
              <a:rPr sz="1725" b="0">
                <a:solidFill>
                  <a:srgbClr val="9AB7AA"/>
                </a:solidFill>
                <a:latin typeface="DejaVu Sans"/>
                <a:ea typeface="DejaVu Sans"/>
                <a:cs typeface="DejaVu Sans"/>
              </a:rPr>
              <a:t>A working open-source ecosystem for local AI, knowledge retrieval and hybrid edge infrastructure.</a:t>
            </a:r>
          </a:p>
        </p:txBody>
      </p:sp>
      <p:sp>
        <p:nvSpPr>
          <p:cNvPr id="9" name="">
            <a:extLst xmlns:a="http://schemas.openxmlformats.org/drawingml/2006/main">
              <a:ext uri="{FF2B5EF4-FFF2-40B4-BE49-F238E27FC236}">
                <a16:creationId xmlns:a16="http://schemas.microsoft.com/office/drawing/2014/main" id="{A0AFCF1D-7E3A-490B-9A2A-1E0171D1EAE1}"/>
              </a:ext>
            </a:extLst>
          </p:cNvPr>
          <p:cNvSpPr>
            <a:spLocks xmlns:a="http://schemas.openxmlformats.org/drawingml/2006/main" noGrp="1"/>
          </p:cNvSpPr>
          <p:nvPr/>
        </p:nvSpPr>
        <p:spPr>
          <a:xfrm xmlns:a="http://schemas.openxmlformats.org/drawingml/2006/main">
            <a:off x="609600" y="615315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9AB7AA"/>
                </a:solidFill>
                <a:latin typeface="DejaVu Sans"/>
                <a:ea typeface="DejaVu Sans"/>
                <a:cs typeface="DejaVu Sans"/>
              </a:defRPr>
            </a:pPr>
            <a:r>
              <a:rPr sz="1125" b="0">
                <a:solidFill>
                  <a:srgbClr val="9AB7AA"/>
                </a:solidFill>
                <a:latin typeface="DejaVu Sans"/>
                <a:ea typeface="DejaVu Sans"/>
                <a:cs typeface="DejaVu Sans"/>
              </a:rPr>
              <a:t>Roberto Luiz Souza Monteiro  •  September 2026</a:t>
            </a:r>
          </a:p>
        </p:txBody>
      </p:sp>
    </p:spTree>
    <p:extLst>
      <p:ext uri="{BB962C8B-B14F-4D97-AF65-F5344CB8AC3E}">
        <p14:creationId xmlns:p14="http://schemas.microsoft.com/office/powerpoint/2010/main" val="2054635156"/>
      </p:ext>
    </p:extLst>
  </p:cSld>
</p:sld>
</file>

<file path=ppt/slides/slide2.xml><?xml version="1.0" encoding="utf-8"?>
<p:sld xmlns:p="http://schemas.openxmlformats.org/presentationml/2006/main">
  <p:cSld>
    <p:bg>
      <p:bgPr>
        <a:solidFill xmlns:a="http://schemas.openxmlformats.org/drawingml/2006/main">
          <a:srgbClr val="050B0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C2DF814-E215-46FD-BF19-E46743433FCE}"/>
              </a:ext>
            </a:extLst>
          </p:cNvPr>
          <p:cNvSpPr>
            <a:spLocks xmlns:a="http://schemas.openxmlformats.org/drawingml/2006/main" noGrp="1"/>
          </p:cNvSpPr>
          <p:nvPr/>
        </p:nvSpPr>
        <p:spPr>
          <a:xfrm xmlns:a="http://schemas.openxmlformats.org/drawingml/2006/main">
            <a:off x="609600" y="3619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OPPORTUNITY</a:t>
            </a:r>
          </a:p>
        </p:txBody>
      </p:sp>
      <p:sp>
        <p:nvSpPr>
          <p:cNvPr id="2" name="">
            <a:extLst xmlns:a="http://schemas.openxmlformats.org/drawingml/2006/main">
              <a:ext uri="{FF2B5EF4-FFF2-40B4-BE49-F238E27FC236}">
                <a16:creationId xmlns:a16="http://schemas.microsoft.com/office/drawing/2014/main" id="{85196350-DD15-453A-96A6-6BB1D97F3350}"/>
              </a:ext>
            </a:extLst>
          </p:cNvPr>
          <p:cNvSpPr>
            <a:spLocks xmlns:a="http://schemas.openxmlformats.org/drawingml/2006/main" noGrp="1"/>
          </p:cNvSpPr>
          <p:nvPr/>
        </p:nvSpPr>
        <p:spPr>
          <a:xfrm xmlns:a="http://schemas.openxmlformats.org/drawingml/2006/main">
            <a:off x="609600" y="68580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EFBF5"/>
                </a:solidFill>
                <a:latin typeface="DejaVu Sans"/>
                <a:ea typeface="DejaVu Sans"/>
                <a:cs typeface="DejaVu Sans"/>
              </a:defRPr>
            </a:pPr>
            <a:r>
              <a:rPr sz="2700" b="1">
                <a:solidFill>
                  <a:srgbClr val="EEFBF5"/>
                </a:solidFill>
                <a:latin typeface="DejaVu Sans"/>
                <a:ea typeface="DejaVu Sans"/>
                <a:cs typeface="DejaVu Sans"/>
              </a:rPr>
              <a:t>The enterprise AI gap</a:t>
            </a:r>
          </a:p>
        </p:txBody>
      </p:sp>
      <p:sp>
        <p:nvSpPr>
          <p:cNvPr id="3" name="">
            <a:extLst xmlns:a="http://schemas.openxmlformats.org/drawingml/2006/main">
              <a:ext uri="{FF2B5EF4-FFF2-40B4-BE49-F238E27FC236}">
                <a16:creationId xmlns:a16="http://schemas.microsoft.com/office/drawing/2014/main" id="{1FA76807-E7E5-4D4E-89B6-5CA7DDDB5E45}"/>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416E90-D248-4767-9FA3-B0BD15B89EA0}"/>
              </a:ext>
            </a:extLst>
          </p:cNvPr>
          <p:cNvSpPr>
            <a:spLocks xmlns:a="http://schemas.openxmlformats.org/drawingml/2006/main" noGrp="1"/>
          </p:cNvSpPr>
          <p:nvPr/>
        </p:nvSpPr>
        <p:spPr>
          <a:xfrm xmlns:a="http://schemas.openxmlformats.org/drawingml/2006/main">
            <a:off x="609600" y="168592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EFBF5"/>
                </a:solidFill>
                <a:latin typeface="DejaVu Sans"/>
                <a:ea typeface="DejaVu Sans"/>
                <a:cs typeface="DejaVu Sans"/>
              </a:defRPr>
            </a:pPr>
            <a:r>
              <a:rPr sz="2100" b="1">
                <a:solidFill>
                  <a:srgbClr val="EEFBF5"/>
                </a:solidFill>
                <a:latin typeface="DejaVu Sans"/>
                <a:ea typeface="DejaVu Sans"/>
                <a:cs typeface="DejaVu Sans"/>
              </a:rPr>
              <a:t>Organizations want the value of generative AI while keeping control of sensitive knowledge, infrastructure and operating costs.</a:t>
            </a:r>
          </a:p>
        </p:txBody>
      </p:sp>
      <p:sp>
        <p:nvSpPr>
          <p:cNvPr id="5" name="">
            <a:extLst xmlns:a="http://schemas.openxmlformats.org/drawingml/2006/main">
              <a:ext uri="{FF2B5EF4-FFF2-40B4-BE49-F238E27FC236}">
                <a16:creationId xmlns:a16="http://schemas.microsoft.com/office/drawing/2014/main" id="{F17B4F71-1273-44A0-A89B-237942C63399}"/>
              </a:ext>
            </a:extLst>
          </p:cNvPr>
          <p:cNvSpPr>
            <a:spLocks xmlns:a="http://schemas.openxmlformats.org/drawingml/2006/main" noGrp="1"/>
          </p:cNvSpPr>
          <p:nvPr/>
        </p:nvSpPr>
        <p:spPr>
          <a:xfrm xmlns:a="http://schemas.openxmlformats.org/drawingml/2006/main">
            <a:off x="628650" y="28765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49F39A"/>
                </a:solidFill>
                <a:latin typeface="DejaVu Sans"/>
                <a:ea typeface="DejaVu Sans"/>
                <a:cs typeface="DejaVu Sans"/>
              </a:defRPr>
            </a:pPr>
            <a:r>
              <a:rPr sz="2250" b="1">
                <a:solidFill>
                  <a:srgbClr val="49F39A"/>
                </a:solidFill>
                <a:latin typeface="DejaVu Sans"/>
                <a:ea typeface="DejaVu Sans"/>
                <a:cs typeface="DejaVu Sans"/>
              </a:rPr>
              <a:t>1</a:t>
            </a:r>
          </a:p>
        </p:txBody>
      </p:sp>
      <p:sp>
        <p:nvSpPr>
          <p:cNvPr id="6" name="">
            <a:extLst xmlns:a="http://schemas.openxmlformats.org/drawingml/2006/main">
              <a:ext uri="{FF2B5EF4-FFF2-40B4-BE49-F238E27FC236}">
                <a16:creationId xmlns:a16="http://schemas.microsoft.com/office/drawing/2014/main" id="{B07523EE-398F-4C0B-A654-0B62504FE32F}"/>
              </a:ext>
            </a:extLst>
          </p:cNvPr>
          <p:cNvSpPr>
            <a:spLocks xmlns:a="http://schemas.openxmlformats.org/drawingml/2006/main" noGrp="1"/>
          </p:cNvSpPr>
          <p:nvPr/>
        </p:nvSpPr>
        <p:spPr>
          <a:xfrm xmlns:a="http://schemas.openxmlformats.org/drawingml/2006/main">
            <a:off x="1219200" y="29051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DATA CONTROL</a:t>
            </a:r>
          </a:p>
        </p:txBody>
      </p:sp>
      <p:sp>
        <p:nvSpPr>
          <p:cNvPr id="7" name="">
            <a:extLst xmlns:a="http://schemas.openxmlformats.org/drawingml/2006/main">
              <a:ext uri="{FF2B5EF4-FFF2-40B4-BE49-F238E27FC236}">
                <a16:creationId xmlns:a16="http://schemas.microsoft.com/office/drawing/2014/main" id="{A189F361-32AB-4B31-AD04-E0C049D7F300}"/>
              </a:ext>
            </a:extLst>
          </p:cNvPr>
          <p:cNvSpPr>
            <a:spLocks xmlns:a="http://schemas.openxmlformats.org/drawingml/2006/main" noGrp="1"/>
          </p:cNvSpPr>
          <p:nvPr/>
        </p:nvSpPr>
        <p:spPr>
          <a:xfrm xmlns:a="http://schemas.openxmlformats.org/drawingml/2006/main">
            <a:off x="3790950" y="2857500"/>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9AB7AA"/>
                </a:solidFill>
                <a:latin typeface="DejaVu Sans"/>
                <a:ea typeface="DejaVu Sans"/>
                <a:cs typeface="DejaVu Sans"/>
              </a:defRPr>
            </a:pPr>
            <a:r>
              <a:rPr sz="1500" b="0">
                <a:solidFill>
                  <a:srgbClr val="9AB7AA"/>
                </a:solidFill>
                <a:latin typeface="DejaVu Sans"/>
                <a:ea typeface="DejaVu Sans"/>
                <a:cs typeface="DejaVu Sans"/>
              </a:rPr>
              <a:t>Cloud-only workflows can move confidential documents outside the organization’s preferred boundary.</a:t>
            </a:r>
          </a:p>
        </p:txBody>
      </p:sp>
      <p:sp>
        <p:nvSpPr>
          <p:cNvPr id="8" name="">
            <a:extLst xmlns:a="http://schemas.openxmlformats.org/drawingml/2006/main">
              <a:ext uri="{FF2B5EF4-FFF2-40B4-BE49-F238E27FC236}">
                <a16:creationId xmlns:a16="http://schemas.microsoft.com/office/drawing/2014/main" id="{4206DF87-95A3-4CD7-A334-77AB58104306}"/>
              </a:ext>
            </a:extLst>
          </p:cNvPr>
          <p:cNvSpPr>
            <a:spLocks xmlns:a="http://schemas.openxmlformats.org/drawingml/2006/main" noGrp="1"/>
          </p:cNvSpPr>
          <p:nvPr/>
        </p:nvSpPr>
        <p:spPr>
          <a:xfrm xmlns:a="http://schemas.openxmlformats.org/drawingml/2006/main">
            <a:off x="1219200" y="3638550"/>
            <a:ext cx="9715500" cy="9525"/>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82B6E7-7338-43B1-BBF4-0282692F8D60}"/>
              </a:ext>
            </a:extLst>
          </p:cNvPr>
          <p:cNvSpPr>
            <a:spLocks xmlns:a="http://schemas.openxmlformats.org/drawingml/2006/main" noGrp="1"/>
          </p:cNvSpPr>
          <p:nvPr/>
        </p:nvSpPr>
        <p:spPr>
          <a:xfrm xmlns:a="http://schemas.openxmlformats.org/drawingml/2006/main">
            <a:off x="628650" y="38671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49F39A"/>
                </a:solidFill>
                <a:latin typeface="DejaVu Sans"/>
                <a:ea typeface="DejaVu Sans"/>
                <a:cs typeface="DejaVu Sans"/>
              </a:defRPr>
            </a:pPr>
            <a:r>
              <a:rPr sz="2250" b="1">
                <a:solidFill>
                  <a:srgbClr val="49F39A"/>
                </a:solidFill>
                <a:latin typeface="DejaVu Sans"/>
                <a:ea typeface="DejaVu Sans"/>
                <a:cs typeface="DejaVu Sans"/>
              </a:rPr>
              <a:t>2</a:t>
            </a:r>
          </a:p>
        </p:txBody>
      </p:sp>
      <p:sp>
        <p:nvSpPr>
          <p:cNvPr id="10" name="">
            <a:extLst xmlns:a="http://schemas.openxmlformats.org/drawingml/2006/main">
              <a:ext uri="{FF2B5EF4-FFF2-40B4-BE49-F238E27FC236}">
                <a16:creationId xmlns:a16="http://schemas.microsoft.com/office/drawing/2014/main" id="{FD5C3714-A2F6-4658-AB0C-BCE8BEBC3DBF}"/>
              </a:ext>
            </a:extLst>
          </p:cNvPr>
          <p:cNvSpPr>
            <a:spLocks xmlns:a="http://schemas.openxmlformats.org/drawingml/2006/main" noGrp="1"/>
          </p:cNvSpPr>
          <p:nvPr/>
        </p:nvSpPr>
        <p:spPr>
          <a:xfrm xmlns:a="http://schemas.openxmlformats.org/drawingml/2006/main">
            <a:off x="1219200" y="38957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KNOWLEDGE ACCESS</a:t>
            </a:r>
          </a:p>
        </p:txBody>
      </p:sp>
      <p:sp>
        <p:nvSpPr>
          <p:cNvPr id="11" name="">
            <a:extLst xmlns:a="http://schemas.openxmlformats.org/drawingml/2006/main">
              <a:ext uri="{FF2B5EF4-FFF2-40B4-BE49-F238E27FC236}">
                <a16:creationId xmlns:a16="http://schemas.microsoft.com/office/drawing/2014/main" id="{142600EE-2C92-44E5-9F90-3195D09E0EFA}"/>
              </a:ext>
            </a:extLst>
          </p:cNvPr>
          <p:cNvSpPr>
            <a:spLocks xmlns:a="http://schemas.openxmlformats.org/drawingml/2006/main" noGrp="1"/>
          </p:cNvSpPr>
          <p:nvPr/>
        </p:nvSpPr>
        <p:spPr>
          <a:xfrm xmlns:a="http://schemas.openxmlformats.org/drawingml/2006/main">
            <a:off x="3790950" y="3848100"/>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9AB7AA"/>
                </a:solidFill>
                <a:latin typeface="DejaVu Sans"/>
                <a:ea typeface="DejaVu Sans"/>
                <a:cs typeface="DejaVu Sans"/>
              </a:defRPr>
            </a:pPr>
            <a:r>
              <a:rPr sz="1500" b="0">
                <a:solidFill>
                  <a:srgbClr val="9AB7AA"/>
                </a:solidFill>
                <a:latin typeface="DejaVu Sans"/>
                <a:ea typeface="DejaVu Sans"/>
                <a:cs typeface="DejaVu Sans"/>
              </a:rPr>
              <a:t>General models do not know the institution’s documents, policies, research and operational history.</a:t>
            </a:r>
          </a:p>
        </p:txBody>
      </p:sp>
      <p:sp>
        <p:nvSpPr>
          <p:cNvPr id="12" name="">
            <a:extLst xmlns:a="http://schemas.openxmlformats.org/drawingml/2006/main">
              <a:ext uri="{FF2B5EF4-FFF2-40B4-BE49-F238E27FC236}">
                <a16:creationId xmlns:a16="http://schemas.microsoft.com/office/drawing/2014/main" id="{852F05FE-0D89-42E3-9B56-531F0F725116}"/>
              </a:ext>
            </a:extLst>
          </p:cNvPr>
          <p:cNvSpPr>
            <a:spLocks xmlns:a="http://schemas.openxmlformats.org/drawingml/2006/main" noGrp="1"/>
          </p:cNvSpPr>
          <p:nvPr/>
        </p:nvSpPr>
        <p:spPr>
          <a:xfrm xmlns:a="http://schemas.openxmlformats.org/drawingml/2006/main">
            <a:off x="1219200" y="4629150"/>
            <a:ext cx="9715500" cy="9525"/>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DFFAD4F-28F3-4068-BF96-BCD23798AD06}"/>
              </a:ext>
            </a:extLst>
          </p:cNvPr>
          <p:cNvSpPr>
            <a:spLocks xmlns:a="http://schemas.openxmlformats.org/drawingml/2006/main" noGrp="1"/>
          </p:cNvSpPr>
          <p:nvPr/>
        </p:nvSpPr>
        <p:spPr>
          <a:xfrm xmlns:a="http://schemas.openxmlformats.org/drawingml/2006/main">
            <a:off x="628650" y="48577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49F39A"/>
                </a:solidFill>
                <a:latin typeface="DejaVu Sans"/>
                <a:ea typeface="DejaVu Sans"/>
                <a:cs typeface="DejaVu Sans"/>
              </a:defRPr>
            </a:pPr>
            <a:r>
              <a:rPr sz="2250" b="1">
                <a:solidFill>
                  <a:srgbClr val="49F39A"/>
                </a:solidFill>
                <a:latin typeface="DejaVu Sans"/>
                <a:ea typeface="DejaVu Sans"/>
                <a:cs typeface="DejaVu Sans"/>
              </a:rPr>
              <a:t>3</a:t>
            </a:r>
          </a:p>
        </p:txBody>
      </p:sp>
      <p:sp>
        <p:nvSpPr>
          <p:cNvPr id="14" name="">
            <a:extLst xmlns:a="http://schemas.openxmlformats.org/drawingml/2006/main">
              <a:ext uri="{FF2B5EF4-FFF2-40B4-BE49-F238E27FC236}">
                <a16:creationId xmlns:a16="http://schemas.microsoft.com/office/drawing/2014/main" id="{9D105CCC-F549-467F-8239-392C1F506374}"/>
              </a:ext>
            </a:extLst>
          </p:cNvPr>
          <p:cNvSpPr>
            <a:spLocks xmlns:a="http://schemas.openxmlformats.org/drawingml/2006/main" noGrp="1"/>
          </p:cNvSpPr>
          <p:nvPr/>
        </p:nvSpPr>
        <p:spPr>
          <a:xfrm xmlns:a="http://schemas.openxmlformats.org/drawingml/2006/main">
            <a:off x="1219200" y="48863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DEPLOYMENT FRICTION</a:t>
            </a:r>
          </a:p>
        </p:txBody>
      </p:sp>
      <p:sp>
        <p:nvSpPr>
          <p:cNvPr id="15" name="">
            <a:extLst xmlns:a="http://schemas.openxmlformats.org/drawingml/2006/main">
              <a:ext uri="{FF2B5EF4-FFF2-40B4-BE49-F238E27FC236}">
                <a16:creationId xmlns:a16="http://schemas.microsoft.com/office/drawing/2014/main" id="{7E1D6E57-106B-4E38-A0E4-3B5408DCAACF}"/>
              </a:ext>
            </a:extLst>
          </p:cNvPr>
          <p:cNvSpPr>
            <a:spLocks xmlns:a="http://schemas.openxmlformats.org/drawingml/2006/main" noGrp="1"/>
          </p:cNvSpPr>
          <p:nvPr/>
        </p:nvSpPr>
        <p:spPr>
          <a:xfrm xmlns:a="http://schemas.openxmlformats.org/drawingml/2006/main">
            <a:off x="3790950" y="4838700"/>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9AB7AA"/>
                </a:solidFill>
                <a:latin typeface="DejaVu Sans"/>
                <a:ea typeface="DejaVu Sans"/>
                <a:cs typeface="DejaVu Sans"/>
              </a:defRPr>
            </a:pPr>
            <a:r>
              <a:rPr sz="1500" b="0">
                <a:solidFill>
                  <a:srgbClr val="9AB7AA"/>
                </a:solidFill>
                <a:latin typeface="DejaVu Sans"/>
                <a:ea typeface="DejaVu Sans"/>
                <a:cs typeface="DejaVu Sans"/>
              </a:rPr>
              <a:t>Teams need a usable interface, retrieval, model serving and secure publication to work as one system.</a:t>
            </a:r>
          </a:p>
        </p:txBody>
      </p:sp>
      <p:sp>
        <p:nvSpPr>
          <p:cNvPr id="16" name="">
            <a:extLst xmlns:a="http://schemas.openxmlformats.org/drawingml/2006/main">
              <a:ext uri="{FF2B5EF4-FFF2-40B4-BE49-F238E27FC236}">
                <a16:creationId xmlns:a16="http://schemas.microsoft.com/office/drawing/2014/main" id="{D771A4E2-9D59-4E09-8F05-E26B1268438B}"/>
              </a:ext>
            </a:extLst>
          </p:cNvPr>
          <p:cNvSpPr>
            <a:spLocks xmlns:a="http://schemas.openxmlformats.org/drawingml/2006/main" noGrp="1"/>
          </p:cNvSpPr>
          <p:nvPr/>
        </p:nvSpPr>
        <p:spPr>
          <a:xfrm xmlns:a="http://schemas.openxmlformats.org/drawingml/2006/main">
            <a:off x="111061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9AB7AA"/>
                </a:solidFill>
                <a:latin typeface="DejaVu Sans"/>
                <a:ea typeface="DejaVu Sans"/>
                <a:cs typeface="DejaVu Sans"/>
              </a:defRPr>
            </a:pPr>
            <a:r>
              <a:rPr sz="975" b="0">
                <a:solidFill>
                  <a:srgbClr val="9AB7AA"/>
                </a:solidFill>
                <a:latin typeface="DejaVu Sans"/>
                <a:ea typeface="DejaVu Sans"/>
                <a:cs typeface="DejaVu Sans"/>
              </a:rPr>
              <a:t>02</a:t>
            </a:r>
          </a:p>
        </p:txBody>
      </p:sp>
    </p:spTree>
    <p:extLst>
      <p:ext uri="{BB962C8B-B14F-4D97-AF65-F5344CB8AC3E}">
        <p14:creationId xmlns:p14="http://schemas.microsoft.com/office/powerpoint/2010/main" val="736408486"/>
      </p:ext>
    </p:extLst>
  </p:cSld>
</p:sld>
</file>

<file path=ppt/slides/slide3.xml><?xml version="1.0" encoding="utf-8"?>
<p:sld xmlns:p="http://schemas.openxmlformats.org/presentationml/2006/main">
  <p:cSld>
    <p:bg>
      <p:bgPr>
        <a:solidFill xmlns:a="http://schemas.openxmlformats.org/drawingml/2006/main">
          <a:srgbClr val="050B09"/>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17410C0-5EBB-48DD-AB98-0E083244AA24}"/>
              </a:ext>
            </a:extLst>
          </p:cNvPr>
          <p:cNvSpPr>
            <a:spLocks xmlns:a="http://schemas.openxmlformats.org/drawingml/2006/main" noGrp="1"/>
          </p:cNvSpPr>
          <p:nvPr/>
        </p:nvSpPr>
        <p:spPr>
          <a:xfrm xmlns:a="http://schemas.openxmlformats.org/drawingml/2006/main">
            <a:off x="609600" y="3619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SOLUTION</a:t>
            </a:r>
          </a:p>
        </p:txBody>
      </p:sp>
      <p:sp>
        <p:nvSpPr>
          <p:cNvPr id="2" name="">
            <a:extLst xmlns:a="http://schemas.openxmlformats.org/drawingml/2006/main">
              <a:ext uri="{FF2B5EF4-FFF2-40B4-BE49-F238E27FC236}">
                <a16:creationId xmlns:a16="http://schemas.microsoft.com/office/drawing/2014/main" id="{4D3777E2-EC46-4EF3-B597-1F2263CD644B}"/>
              </a:ext>
            </a:extLst>
          </p:cNvPr>
          <p:cNvSpPr>
            <a:spLocks xmlns:a="http://schemas.openxmlformats.org/drawingml/2006/main" noGrp="1"/>
          </p:cNvSpPr>
          <p:nvPr/>
        </p:nvSpPr>
        <p:spPr>
          <a:xfrm xmlns:a="http://schemas.openxmlformats.org/drawingml/2006/main">
            <a:off x="609600" y="68580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EFBF5"/>
                </a:solidFill>
                <a:latin typeface="DejaVu Sans"/>
                <a:ea typeface="DejaVu Sans"/>
                <a:cs typeface="DejaVu Sans"/>
              </a:defRPr>
            </a:pPr>
            <a:r>
              <a:rPr sz="2700" b="1">
                <a:solidFill>
                  <a:srgbClr val="EEFBF5"/>
                </a:solidFill>
                <a:latin typeface="DejaVu Sans"/>
                <a:ea typeface="DejaVu Sans"/>
                <a:cs typeface="DejaVu Sans"/>
              </a:rPr>
              <a:t>A complete path from documents to answers</a:t>
            </a:r>
          </a:p>
        </p:txBody>
      </p:sp>
      <p:sp>
        <p:nvSpPr>
          <p:cNvPr id="3" name="">
            <a:extLst xmlns:a="http://schemas.openxmlformats.org/drawingml/2006/main">
              <a:ext uri="{FF2B5EF4-FFF2-40B4-BE49-F238E27FC236}">
                <a16:creationId xmlns:a16="http://schemas.microsoft.com/office/drawing/2014/main" id="{FE89F7CA-ED12-41E7-8CC6-9C350406BEBD}"/>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C20199-42F3-46C4-A962-8702B443A01D}"/>
              </a:ext>
            </a:extLst>
          </p:cNvPr>
          <p:cNvSpPr>
            <a:spLocks xmlns:a="http://schemas.openxmlformats.org/drawingml/2006/main" noGrp="1"/>
          </p:cNvSpPr>
          <p:nvPr/>
        </p:nvSpPr>
        <p:spPr>
          <a:xfrm xmlns:a="http://schemas.openxmlformats.org/drawingml/2006/main">
            <a:off x="704850" y="2438400"/>
            <a:ext cx="2381250" cy="1695450"/>
          </a:xfrm>
          <a:prstGeom xmlns:a="http://schemas.openxmlformats.org/drawingml/2006/main" prst="roundRect">
            <a:avLst>
              <a:gd name="adj" fmla="val 11236"/>
            </a:avLst>
          </a:prstGeom>
          <a:solidFill xmlns:a="http://schemas.openxmlformats.org/drawingml/2006/main">
            <a:srgbClr val="0B1612"/>
          </a:solidFill>
          <a:ln xmlns:a="http://schemas.openxmlformats.org/drawingml/2006/main" w="9525">
            <a:solidFill>
              <a:srgbClr val="234338"/>
            </a:solidFill>
          </a:ln>
        </p:spPr>
      </p:sp>
      <p:sp>
        <p:nvSpPr>
          <p:cNvPr id="5" name="">
            <a:extLst xmlns:a="http://schemas.openxmlformats.org/drawingml/2006/main">
              <a:ext uri="{FF2B5EF4-FFF2-40B4-BE49-F238E27FC236}">
                <a16:creationId xmlns:a16="http://schemas.microsoft.com/office/drawing/2014/main" id="{2BE81F8D-8184-4928-A510-875562A6DE34}"/>
              </a:ext>
            </a:extLst>
          </p:cNvPr>
          <p:cNvSpPr>
            <a:spLocks xmlns:a="http://schemas.openxmlformats.org/drawingml/2006/main" noGrp="1"/>
          </p:cNvSpPr>
          <p:nvPr/>
        </p:nvSpPr>
        <p:spPr>
          <a:xfrm xmlns:a="http://schemas.openxmlformats.org/drawingml/2006/main">
            <a:off x="895350" y="27241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EEFBF5"/>
                </a:solidFill>
                <a:latin typeface="DejaVu Sans"/>
                <a:ea typeface="DejaVu Sans"/>
                <a:cs typeface="DejaVu Sans"/>
              </a:defRPr>
            </a:pPr>
            <a:r>
              <a:rPr sz="1725" b="1">
                <a:solidFill>
                  <a:srgbClr val="EEFBF5"/>
                </a:solidFill>
                <a:latin typeface="DejaVu Sans"/>
                <a:ea typeface="DejaVu Sans"/>
                <a:cs typeface="DejaVu Sans"/>
              </a:rPr>
              <a:t>Private knowledge</a:t>
            </a:r>
          </a:p>
        </p:txBody>
      </p:sp>
      <p:sp>
        <p:nvSpPr>
          <p:cNvPr id="6" name="">
            <a:extLst xmlns:a="http://schemas.openxmlformats.org/drawingml/2006/main">
              <a:ext uri="{FF2B5EF4-FFF2-40B4-BE49-F238E27FC236}">
                <a16:creationId xmlns:a16="http://schemas.microsoft.com/office/drawing/2014/main" id="{9F26CDC6-6EEE-4003-AF39-589425A22CBB}"/>
              </a:ext>
            </a:extLst>
          </p:cNvPr>
          <p:cNvSpPr>
            <a:spLocks xmlns:a="http://schemas.openxmlformats.org/drawingml/2006/main" noGrp="1"/>
          </p:cNvSpPr>
          <p:nvPr/>
        </p:nvSpPr>
        <p:spPr>
          <a:xfrm xmlns:a="http://schemas.openxmlformats.org/drawingml/2006/main">
            <a:off x="895350" y="329565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B7AA"/>
                </a:solidFill>
                <a:latin typeface="DejaVu Sans"/>
                <a:ea typeface="DejaVu Sans"/>
                <a:cs typeface="DejaVu Sans"/>
              </a:defRPr>
            </a:pPr>
            <a:r>
              <a:rPr sz="1275" b="0">
                <a:solidFill>
                  <a:srgbClr val="9AB7AA"/>
                </a:solidFill>
                <a:latin typeface="DejaVu Sans"/>
                <a:ea typeface="DejaVu Sans"/>
                <a:cs typeface="DejaVu Sans"/>
              </a:rPr>
              <a:t>PDFs, office files, code, research</a:t>
            </a:r>
          </a:p>
        </p:txBody>
      </p:sp>
      <p:sp>
        <p:nvSpPr>
          <p:cNvPr id="7" name="">
            <a:extLst xmlns:a="http://schemas.openxmlformats.org/drawingml/2006/main">
              <a:ext uri="{FF2B5EF4-FFF2-40B4-BE49-F238E27FC236}">
                <a16:creationId xmlns:a16="http://schemas.microsoft.com/office/drawing/2014/main" id="{F1B6AAF3-18BF-4E82-B036-5EEE209E6666}"/>
              </a:ext>
            </a:extLst>
          </p:cNvPr>
          <p:cNvSpPr>
            <a:spLocks xmlns:a="http://schemas.openxmlformats.org/drawingml/2006/main" noGrp="1"/>
          </p:cNvSpPr>
          <p:nvPr/>
        </p:nvSpPr>
        <p:spPr>
          <a:xfrm xmlns:a="http://schemas.openxmlformats.org/drawingml/2006/main">
            <a:off x="3200400" y="3219450"/>
            <a:ext cx="361950" cy="38100"/>
          </a:xfrm>
          <a:prstGeom xmlns:a="http://schemas.openxmlformats.org/drawingml/2006/main" prst="rect">
            <a:avLst/>
          </a:prstGeom>
          <a:solidFill xmlns:a="http://schemas.openxmlformats.org/drawingml/2006/main">
            <a:srgbClr val="49F39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C578988-D1B7-452B-8412-7507902E91FC}"/>
              </a:ext>
            </a:extLst>
          </p:cNvPr>
          <p:cNvSpPr>
            <a:spLocks xmlns:a="http://schemas.openxmlformats.org/drawingml/2006/main" noGrp="1"/>
          </p:cNvSpPr>
          <p:nvPr/>
        </p:nvSpPr>
        <p:spPr>
          <a:xfrm xmlns:a="http://schemas.openxmlformats.org/drawingml/2006/main">
            <a:off x="3486150" y="3162300"/>
            <a:ext cx="114300" cy="152400"/>
          </a:xfrm>
          <a:prstGeom xmlns:a="http://schemas.openxmlformats.org/drawingml/2006/main" prst="rect">
            <a:avLst/>
          </a:prstGeom>
          <a:solidFill xmlns:a="http://schemas.openxmlformats.org/drawingml/2006/main">
            <a:srgbClr val="49F39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080CF24-4AEC-4955-9CF0-3BA938341C4D}"/>
              </a:ext>
            </a:extLst>
          </p:cNvPr>
          <p:cNvSpPr>
            <a:spLocks xmlns:a="http://schemas.openxmlformats.org/drawingml/2006/main" noGrp="1"/>
          </p:cNvSpPr>
          <p:nvPr/>
        </p:nvSpPr>
        <p:spPr>
          <a:xfrm xmlns:a="http://schemas.openxmlformats.org/drawingml/2006/main">
            <a:off x="3676650" y="2438400"/>
            <a:ext cx="2381250" cy="1695450"/>
          </a:xfrm>
          <a:prstGeom xmlns:a="http://schemas.openxmlformats.org/drawingml/2006/main" prst="roundRect">
            <a:avLst>
              <a:gd name="adj" fmla="val 11236"/>
            </a:avLst>
          </a:prstGeom>
          <a:solidFill xmlns:a="http://schemas.openxmlformats.org/drawingml/2006/main">
            <a:srgbClr val="10221B"/>
          </a:solidFill>
          <a:ln xmlns:a="http://schemas.openxmlformats.org/drawingml/2006/main" w="9525">
            <a:solidFill>
              <a:srgbClr val="18B56D"/>
            </a:solidFill>
          </a:ln>
        </p:spPr>
      </p:sp>
      <p:sp>
        <p:nvSpPr>
          <p:cNvPr id="10" name="">
            <a:extLst xmlns:a="http://schemas.openxmlformats.org/drawingml/2006/main">
              <a:ext uri="{FF2B5EF4-FFF2-40B4-BE49-F238E27FC236}">
                <a16:creationId xmlns:a16="http://schemas.microsoft.com/office/drawing/2014/main" id="{53AC1A2D-9F3F-4575-84EB-F2C7348DC817}"/>
              </a:ext>
            </a:extLst>
          </p:cNvPr>
          <p:cNvSpPr>
            <a:spLocks xmlns:a="http://schemas.openxmlformats.org/drawingml/2006/main" noGrp="1"/>
          </p:cNvSpPr>
          <p:nvPr/>
        </p:nvSpPr>
        <p:spPr>
          <a:xfrm xmlns:a="http://schemas.openxmlformats.org/drawingml/2006/main">
            <a:off x="3867150" y="27241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49F39A"/>
                </a:solidFill>
                <a:latin typeface="DejaVu Sans"/>
                <a:ea typeface="DejaVu Sans"/>
                <a:cs typeface="DejaVu Sans"/>
              </a:defRPr>
            </a:pPr>
            <a:r>
              <a:rPr sz="1725" b="1">
                <a:solidFill>
                  <a:srgbClr val="49F39A"/>
                </a:solidFill>
                <a:latin typeface="DejaVu Sans"/>
                <a:ea typeface="DejaVu Sans"/>
                <a:cs typeface="DejaVu Sans"/>
              </a:rPr>
              <a:t>Maia RAG</a:t>
            </a:r>
          </a:p>
        </p:txBody>
      </p:sp>
      <p:sp>
        <p:nvSpPr>
          <p:cNvPr id="11" name="">
            <a:extLst xmlns:a="http://schemas.openxmlformats.org/drawingml/2006/main">
              <a:ext uri="{FF2B5EF4-FFF2-40B4-BE49-F238E27FC236}">
                <a16:creationId xmlns:a16="http://schemas.microsoft.com/office/drawing/2014/main" id="{4A1B5E03-173F-4AA6-AF0F-B007A73E29BD}"/>
              </a:ext>
            </a:extLst>
          </p:cNvPr>
          <p:cNvSpPr>
            <a:spLocks xmlns:a="http://schemas.openxmlformats.org/drawingml/2006/main" noGrp="1"/>
          </p:cNvSpPr>
          <p:nvPr/>
        </p:nvSpPr>
        <p:spPr>
          <a:xfrm xmlns:a="http://schemas.openxmlformats.org/drawingml/2006/main">
            <a:off x="3867150" y="329565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B7AA"/>
                </a:solidFill>
                <a:latin typeface="DejaVu Sans"/>
                <a:ea typeface="DejaVu Sans"/>
                <a:cs typeface="DejaVu Sans"/>
              </a:defRPr>
            </a:pPr>
            <a:r>
              <a:rPr sz="1275" b="0">
                <a:solidFill>
                  <a:srgbClr val="9AB7AA"/>
                </a:solidFill>
                <a:latin typeface="DejaVu Sans"/>
                <a:ea typeface="DejaVu Sans"/>
                <a:cs typeface="DejaVu Sans"/>
              </a:rPr>
              <a:t>Indexing, local embeddings, retrieval</a:t>
            </a:r>
          </a:p>
        </p:txBody>
      </p:sp>
      <p:sp>
        <p:nvSpPr>
          <p:cNvPr id="12" name="">
            <a:extLst xmlns:a="http://schemas.openxmlformats.org/drawingml/2006/main">
              <a:ext uri="{FF2B5EF4-FFF2-40B4-BE49-F238E27FC236}">
                <a16:creationId xmlns:a16="http://schemas.microsoft.com/office/drawing/2014/main" id="{0CEB1F4B-FA5C-4F28-B445-BE5A93C96AC4}"/>
              </a:ext>
            </a:extLst>
          </p:cNvPr>
          <p:cNvSpPr>
            <a:spLocks xmlns:a="http://schemas.openxmlformats.org/drawingml/2006/main" noGrp="1"/>
          </p:cNvSpPr>
          <p:nvPr/>
        </p:nvSpPr>
        <p:spPr>
          <a:xfrm xmlns:a="http://schemas.openxmlformats.org/drawingml/2006/main">
            <a:off x="6172200" y="3219450"/>
            <a:ext cx="361950" cy="38100"/>
          </a:xfrm>
          <a:prstGeom xmlns:a="http://schemas.openxmlformats.org/drawingml/2006/main" prst="rect">
            <a:avLst/>
          </a:prstGeom>
          <a:solidFill xmlns:a="http://schemas.openxmlformats.org/drawingml/2006/main">
            <a:srgbClr val="49F39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7C8BA90-603D-423F-A844-F1DB5058AF82}"/>
              </a:ext>
            </a:extLst>
          </p:cNvPr>
          <p:cNvSpPr>
            <a:spLocks xmlns:a="http://schemas.openxmlformats.org/drawingml/2006/main" noGrp="1"/>
          </p:cNvSpPr>
          <p:nvPr/>
        </p:nvSpPr>
        <p:spPr>
          <a:xfrm xmlns:a="http://schemas.openxmlformats.org/drawingml/2006/main">
            <a:off x="6457950" y="3162300"/>
            <a:ext cx="114300" cy="152400"/>
          </a:xfrm>
          <a:prstGeom xmlns:a="http://schemas.openxmlformats.org/drawingml/2006/main" prst="rect">
            <a:avLst/>
          </a:prstGeom>
          <a:solidFill xmlns:a="http://schemas.openxmlformats.org/drawingml/2006/main">
            <a:srgbClr val="49F39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F40830-974E-4C37-BBC3-C1867E35E183}"/>
              </a:ext>
            </a:extLst>
          </p:cNvPr>
          <p:cNvSpPr>
            <a:spLocks xmlns:a="http://schemas.openxmlformats.org/drawingml/2006/main" noGrp="1"/>
          </p:cNvSpPr>
          <p:nvPr/>
        </p:nvSpPr>
        <p:spPr>
          <a:xfrm xmlns:a="http://schemas.openxmlformats.org/drawingml/2006/main">
            <a:off x="6648450" y="2438400"/>
            <a:ext cx="2381250" cy="1695450"/>
          </a:xfrm>
          <a:prstGeom xmlns:a="http://schemas.openxmlformats.org/drawingml/2006/main" prst="roundRect">
            <a:avLst>
              <a:gd name="adj" fmla="val 11236"/>
            </a:avLst>
          </a:prstGeom>
          <a:solidFill xmlns:a="http://schemas.openxmlformats.org/drawingml/2006/main">
            <a:srgbClr val="10221B"/>
          </a:solidFill>
          <a:ln xmlns:a="http://schemas.openxmlformats.org/drawingml/2006/main" w="9525">
            <a:solidFill>
              <a:srgbClr val="18B56D"/>
            </a:solidFill>
          </a:ln>
        </p:spPr>
      </p:sp>
      <p:sp>
        <p:nvSpPr>
          <p:cNvPr id="15" name="">
            <a:extLst xmlns:a="http://schemas.openxmlformats.org/drawingml/2006/main">
              <a:ext uri="{FF2B5EF4-FFF2-40B4-BE49-F238E27FC236}">
                <a16:creationId xmlns:a16="http://schemas.microsoft.com/office/drawing/2014/main" id="{68A8E0E6-C9F0-425B-86B1-FAECA8651C24}"/>
              </a:ext>
            </a:extLst>
          </p:cNvPr>
          <p:cNvSpPr>
            <a:spLocks xmlns:a="http://schemas.openxmlformats.org/drawingml/2006/main" noGrp="1"/>
          </p:cNvSpPr>
          <p:nvPr/>
        </p:nvSpPr>
        <p:spPr>
          <a:xfrm xmlns:a="http://schemas.openxmlformats.org/drawingml/2006/main">
            <a:off x="6838950" y="27241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49F39A"/>
                </a:solidFill>
                <a:latin typeface="DejaVu Sans"/>
                <a:ea typeface="DejaVu Sans"/>
                <a:cs typeface="DejaVu Sans"/>
              </a:defRPr>
            </a:pPr>
            <a:r>
              <a:rPr sz="1725" b="1">
                <a:solidFill>
                  <a:srgbClr val="49F39A"/>
                </a:solidFill>
                <a:latin typeface="DejaVu Sans"/>
                <a:ea typeface="DejaVu Sans"/>
                <a:cs typeface="DejaVu Sans"/>
              </a:rPr>
              <a:t>Maia Chat</a:t>
            </a:r>
          </a:p>
        </p:txBody>
      </p:sp>
      <p:sp>
        <p:nvSpPr>
          <p:cNvPr id="16" name="">
            <a:extLst xmlns:a="http://schemas.openxmlformats.org/drawingml/2006/main">
              <a:ext uri="{FF2B5EF4-FFF2-40B4-BE49-F238E27FC236}">
                <a16:creationId xmlns:a16="http://schemas.microsoft.com/office/drawing/2014/main" id="{4D4049B5-E815-4424-86D1-2815BED9F75C}"/>
              </a:ext>
            </a:extLst>
          </p:cNvPr>
          <p:cNvSpPr>
            <a:spLocks xmlns:a="http://schemas.openxmlformats.org/drawingml/2006/main" noGrp="1"/>
          </p:cNvSpPr>
          <p:nvPr/>
        </p:nvSpPr>
        <p:spPr>
          <a:xfrm xmlns:a="http://schemas.openxmlformats.org/drawingml/2006/main">
            <a:off x="6838950" y="329565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B7AA"/>
                </a:solidFill>
                <a:latin typeface="DejaVu Sans"/>
                <a:ea typeface="DejaVu Sans"/>
                <a:cs typeface="DejaVu Sans"/>
              </a:defRPr>
            </a:pPr>
            <a:r>
              <a:rPr sz="1275" b="0">
                <a:solidFill>
                  <a:srgbClr val="9AB7AA"/>
                </a:solidFill>
                <a:latin typeface="DejaVu Sans"/>
                <a:ea typeface="DejaVu Sans"/>
                <a:cs typeface="DejaVu Sans"/>
              </a:rPr>
              <a:t>Conversation, attachments, streaming</a:t>
            </a:r>
          </a:p>
        </p:txBody>
      </p:sp>
      <p:sp>
        <p:nvSpPr>
          <p:cNvPr id="17" name="">
            <a:extLst xmlns:a="http://schemas.openxmlformats.org/drawingml/2006/main">
              <a:ext uri="{FF2B5EF4-FFF2-40B4-BE49-F238E27FC236}">
                <a16:creationId xmlns:a16="http://schemas.microsoft.com/office/drawing/2014/main" id="{878F38EC-EBCE-42CA-9817-4BEB1E5D381D}"/>
              </a:ext>
            </a:extLst>
          </p:cNvPr>
          <p:cNvSpPr>
            <a:spLocks xmlns:a="http://schemas.openxmlformats.org/drawingml/2006/main" noGrp="1"/>
          </p:cNvSpPr>
          <p:nvPr/>
        </p:nvSpPr>
        <p:spPr>
          <a:xfrm xmlns:a="http://schemas.openxmlformats.org/drawingml/2006/main">
            <a:off x="9144000" y="3219450"/>
            <a:ext cx="361950" cy="38100"/>
          </a:xfrm>
          <a:prstGeom xmlns:a="http://schemas.openxmlformats.org/drawingml/2006/main" prst="rect">
            <a:avLst/>
          </a:prstGeom>
          <a:solidFill xmlns:a="http://schemas.openxmlformats.org/drawingml/2006/main">
            <a:srgbClr val="49F39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3F454AB-D35B-4318-A98C-F8D01CA53962}"/>
              </a:ext>
            </a:extLst>
          </p:cNvPr>
          <p:cNvSpPr>
            <a:spLocks xmlns:a="http://schemas.openxmlformats.org/drawingml/2006/main" noGrp="1"/>
          </p:cNvSpPr>
          <p:nvPr/>
        </p:nvSpPr>
        <p:spPr>
          <a:xfrm xmlns:a="http://schemas.openxmlformats.org/drawingml/2006/main">
            <a:off x="9429750" y="3162300"/>
            <a:ext cx="114300" cy="152400"/>
          </a:xfrm>
          <a:prstGeom xmlns:a="http://schemas.openxmlformats.org/drawingml/2006/main" prst="rect">
            <a:avLst/>
          </a:prstGeom>
          <a:solidFill xmlns:a="http://schemas.openxmlformats.org/drawingml/2006/main">
            <a:srgbClr val="49F39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32621D6-114F-45FA-968D-F2F5EBB6FD63}"/>
              </a:ext>
            </a:extLst>
          </p:cNvPr>
          <p:cNvSpPr>
            <a:spLocks xmlns:a="http://schemas.openxmlformats.org/drawingml/2006/main" noGrp="1"/>
          </p:cNvSpPr>
          <p:nvPr/>
        </p:nvSpPr>
        <p:spPr>
          <a:xfrm xmlns:a="http://schemas.openxmlformats.org/drawingml/2006/main">
            <a:off x="9620250" y="2438400"/>
            <a:ext cx="1866900" cy="1695450"/>
          </a:xfrm>
          <a:prstGeom xmlns:a="http://schemas.openxmlformats.org/drawingml/2006/main" prst="roundRect">
            <a:avLst>
              <a:gd name="adj" fmla="val 11236"/>
            </a:avLst>
          </a:prstGeom>
          <a:solidFill xmlns:a="http://schemas.openxmlformats.org/drawingml/2006/main">
            <a:srgbClr val="0B1612"/>
          </a:solidFill>
          <a:ln xmlns:a="http://schemas.openxmlformats.org/drawingml/2006/main" w="9525">
            <a:solidFill>
              <a:srgbClr val="234338"/>
            </a:solidFill>
          </a:ln>
        </p:spPr>
      </p:sp>
      <p:sp>
        <p:nvSpPr>
          <p:cNvPr id="20" name="">
            <a:extLst xmlns:a="http://schemas.openxmlformats.org/drawingml/2006/main">
              <a:ext uri="{FF2B5EF4-FFF2-40B4-BE49-F238E27FC236}">
                <a16:creationId xmlns:a16="http://schemas.microsoft.com/office/drawing/2014/main" id="{9A94071D-CB02-45B9-8A30-7BDF10E29EE3}"/>
              </a:ext>
            </a:extLst>
          </p:cNvPr>
          <p:cNvSpPr>
            <a:spLocks xmlns:a="http://schemas.openxmlformats.org/drawingml/2006/main" noGrp="1"/>
          </p:cNvSpPr>
          <p:nvPr/>
        </p:nvSpPr>
        <p:spPr>
          <a:xfrm xmlns:a="http://schemas.openxmlformats.org/drawingml/2006/main">
            <a:off x="9810750" y="2724150"/>
            <a:ext cx="148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EEFBF5"/>
                </a:solidFill>
                <a:latin typeface="DejaVu Sans"/>
                <a:ea typeface="DejaVu Sans"/>
                <a:cs typeface="DejaVu Sans"/>
              </a:defRPr>
            </a:pPr>
            <a:r>
              <a:rPr sz="1725" b="1">
                <a:solidFill>
                  <a:srgbClr val="EEFBF5"/>
                </a:solidFill>
                <a:latin typeface="DejaVu Sans"/>
                <a:ea typeface="DejaVu Sans"/>
                <a:cs typeface="DejaVu Sans"/>
              </a:rPr>
              <a:t>Users</a:t>
            </a:r>
          </a:p>
        </p:txBody>
      </p:sp>
      <p:sp>
        <p:nvSpPr>
          <p:cNvPr id="21" name="">
            <a:extLst xmlns:a="http://schemas.openxmlformats.org/drawingml/2006/main">
              <a:ext uri="{FF2B5EF4-FFF2-40B4-BE49-F238E27FC236}">
                <a16:creationId xmlns:a16="http://schemas.microsoft.com/office/drawing/2014/main" id="{6431E96E-E0C5-49A3-A886-EEB8487D407E}"/>
              </a:ext>
            </a:extLst>
          </p:cNvPr>
          <p:cNvSpPr>
            <a:spLocks xmlns:a="http://schemas.openxmlformats.org/drawingml/2006/main" noGrp="1"/>
          </p:cNvSpPr>
          <p:nvPr/>
        </p:nvSpPr>
        <p:spPr>
          <a:xfrm xmlns:a="http://schemas.openxmlformats.org/drawingml/2006/main">
            <a:off x="9810750" y="3295650"/>
            <a:ext cx="148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B7AA"/>
                </a:solidFill>
                <a:latin typeface="DejaVu Sans"/>
                <a:ea typeface="DejaVu Sans"/>
                <a:cs typeface="DejaVu Sans"/>
              </a:defRPr>
            </a:pPr>
            <a:r>
              <a:rPr sz="1275" b="0">
                <a:solidFill>
                  <a:srgbClr val="9AB7AA"/>
                </a:solidFill>
                <a:latin typeface="DejaVu Sans"/>
                <a:ea typeface="DejaVu Sans"/>
                <a:cs typeface="DejaVu Sans"/>
              </a:rPr>
              <a:t>Teams, students, researchers</a:t>
            </a:r>
          </a:p>
        </p:txBody>
      </p:sp>
      <p:sp>
        <p:nvSpPr>
          <p:cNvPr id="22" name="">
            <a:extLst xmlns:a="http://schemas.openxmlformats.org/drawingml/2006/main">
              <a:ext uri="{FF2B5EF4-FFF2-40B4-BE49-F238E27FC236}">
                <a16:creationId xmlns:a16="http://schemas.microsoft.com/office/drawing/2014/main" id="{90CE030C-E055-4AD2-BA0A-6582D1078027}"/>
              </a:ext>
            </a:extLst>
          </p:cNvPr>
          <p:cNvSpPr>
            <a:spLocks xmlns:a="http://schemas.openxmlformats.org/drawingml/2006/main" noGrp="1"/>
          </p:cNvSpPr>
          <p:nvPr/>
        </p:nvSpPr>
        <p:spPr>
          <a:xfrm xmlns:a="http://schemas.openxmlformats.org/drawingml/2006/main">
            <a:off x="1924050" y="4819650"/>
            <a:ext cx="8362950" cy="19050"/>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7DE5546-7588-41E1-8506-5F4C70B91FE4}"/>
              </a:ext>
            </a:extLst>
          </p:cNvPr>
          <p:cNvSpPr>
            <a:spLocks xmlns:a="http://schemas.openxmlformats.org/drawingml/2006/main" noGrp="1"/>
          </p:cNvSpPr>
          <p:nvPr/>
        </p:nvSpPr>
        <p:spPr>
          <a:xfrm xmlns:a="http://schemas.openxmlformats.org/drawingml/2006/main">
            <a:off x="723900" y="521017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62E9FF"/>
                </a:solidFill>
                <a:latin typeface="DejaVu Sans"/>
                <a:ea typeface="DejaVu Sans"/>
                <a:cs typeface="DejaVu Sans"/>
              </a:defRPr>
            </a:pPr>
            <a:r>
              <a:rPr sz="1725" b="1">
                <a:solidFill>
                  <a:srgbClr val="62E9FF"/>
                </a:solidFill>
                <a:latin typeface="DejaVu Sans"/>
                <a:ea typeface="DejaVu Sans"/>
                <a:cs typeface="DejaVu Sans"/>
              </a:rPr>
              <a:t>Maia Edge</a:t>
            </a:r>
          </a:p>
        </p:txBody>
      </p:sp>
      <p:sp>
        <p:nvSpPr>
          <p:cNvPr id="24" name="">
            <a:extLst xmlns:a="http://schemas.openxmlformats.org/drawingml/2006/main">
              <a:ext uri="{FF2B5EF4-FFF2-40B4-BE49-F238E27FC236}">
                <a16:creationId xmlns:a16="http://schemas.microsoft.com/office/drawing/2014/main" id="{3AB6D001-3D43-4AB5-9D55-59B0D475E212}"/>
              </a:ext>
            </a:extLst>
          </p:cNvPr>
          <p:cNvSpPr>
            <a:spLocks xmlns:a="http://schemas.openxmlformats.org/drawingml/2006/main" noGrp="1"/>
          </p:cNvSpPr>
          <p:nvPr/>
        </p:nvSpPr>
        <p:spPr>
          <a:xfrm xmlns:a="http://schemas.openxmlformats.org/drawingml/2006/main">
            <a:off x="2476500" y="5191125"/>
            <a:ext cx="847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9AB7AA"/>
                </a:solidFill>
                <a:latin typeface="DejaVu Sans"/>
                <a:ea typeface="DejaVu Sans"/>
                <a:cs typeface="DejaVu Sans"/>
              </a:defRPr>
            </a:pPr>
            <a:r>
              <a:rPr sz="1500" b="0">
                <a:solidFill>
                  <a:srgbClr val="9AB7AA"/>
                </a:solidFill>
                <a:latin typeface="DejaVu Sans"/>
                <a:ea typeface="DejaVu Sans"/>
                <a:cs typeface="DejaVu Sans"/>
              </a:rPr>
              <a:t>Securely publishes services running on local hardware through a lightweight cloud gateway.</a:t>
            </a:r>
          </a:p>
        </p:txBody>
      </p:sp>
      <p:sp>
        <p:nvSpPr>
          <p:cNvPr id="25" name="">
            <a:extLst xmlns:a="http://schemas.openxmlformats.org/drawingml/2006/main">
              <a:ext uri="{FF2B5EF4-FFF2-40B4-BE49-F238E27FC236}">
                <a16:creationId xmlns:a16="http://schemas.microsoft.com/office/drawing/2014/main" id="{2B87DEB1-7813-4542-8CAF-E7682DE3DB45}"/>
              </a:ext>
            </a:extLst>
          </p:cNvPr>
          <p:cNvSpPr>
            <a:spLocks xmlns:a="http://schemas.openxmlformats.org/drawingml/2006/main" noGrp="1"/>
          </p:cNvSpPr>
          <p:nvPr/>
        </p:nvSpPr>
        <p:spPr>
          <a:xfrm xmlns:a="http://schemas.openxmlformats.org/drawingml/2006/main">
            <a:off x="723900" y="5962650"/>
            <a:ext cx="1676400" cy="342900"/>
          </a:xfrm>
          <a:prstGeom xmlns:a="http://schemas.openxmlformats.org/drawingml/2006/main" prst="roundRect">
            <a:avLst>
              <a:gd name="adj" fmla="val 50000"/>
            </a:avLst>
          </a:prstGeom>
          <a:solidFill xmlns:a="http://schemas.openxmlformats.org/drawingml/2006/main">
            <a:srgbClr val="10221B"/>
          </a:solidFill>
          <a:ln xmlns:a="http://schemas.openxmlformats.org/drawingml/2006/main" w="9525">
            <a:solidFill>
              <a:srgbClr val="234338"/>
            </a:solidFill>
          </a:ln>
        </p:spPr>
      </p:sp>
      <p:sp>
        <p:nvSpPr>
          <p:cNvPr id="26" name="">
            <a:extLst xmlns:a="http://schemas.openxmlformats.org/drawingml/2006/main">
              <a:ext uri="{FF2B5EF4-FFF2-40B4-BE49-F238E27FC236}">
                <a16:creationId xmlns:a16="http://schemas.microsoft.com/office/drawing/2014/main" id="{B26F5DE2-3881-45EA-BAEF-C9A30047E4D5}"/>
              </a:ext>
            </a:extLst>
          </p:cNvPr>
          <p:cNvSpPr>
            <a:spLocks xmlns:a="http://schemas.openxmlformats.org/drawingml/2006/main" noGrp="1"/>
          </p:cNvSpPr>
          <p:nvPr/>
        </p:nvSpPr>
        <p:spPr>
          <a:xfrm xmlns:a="http://schemas.openxmlformats.org/drawingml/2006/main">
            <a:off x="781050" y="602932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75" b="1">
                <a:solidFill>
                  <a:srgbClr val="49F39A"/>
                </a:solidFill>
                <a:latin typeface="DejaVu Sans"/>
                <a:ea typeface="DejaVu Sans"/>
                <a:cs typeface="DejaVu Sans"/>
              </a:defRPr>
            </a:pPr>
            <a:r>
              <a:rPr sz="975" b="1">
                <a:solidFill>
                  <a:srgbClr val="49F39A"/>
                </a:solidFill>
                <a:latin typeface="DejaVu Sans"/>
                <a:ea typeface="DejaVu Sans"/>
                <a:cs typeface="DejaVu Sans"/>
              </a:rPr>
              <a:t>OPEN SOURCE</a:t>
            </a:r>
          </a:p>
        </p:txBody>
      </p:sp>
      <p:sp>
        <p:nvSpPr>
          <p:cNvPr id="27" name="">
            <a:extLst xmlns:a="http://schemas.openxmlformats.org/drawingml/2006/main">
              <a:ext uri="{FF2B5EF4-FFF2-40B4-BE49-F238E27FC236}">
                <a16:creationId xmlns:a16="http://schemas.microsoft.com/office/drawing/2014/main" id="{7EB53A56-74F8-40E5-BFBD-A8C460EF33B8}"/>
              </a:ext>
            </a:extLst>
          </p:cNvPr>
          <p:cNvSpPr>
            <a:spLocks xmlns:a="http://schemas.openxmlformats.org/drawingml/2006/main" noGrp="1"/>
          </p:cNvSpPr>
          <p:nvPr/>
        </p:nvSpPr>
        <p:spPr>
          <a:xfrm xmlns:a="http://schemas.openxmlformats.org/drawingml/2006/main">
            <a:off x="2552700" y="5962650"/>
            <a:ext cx="1752600" cy="342900"/>
          </a:xfrm>
          <a:prstGeom xmlns:a="http://schemas.openxmlformats.org/drawingml/2006/main" prst="roundRect">
            <a:avLst>
              <a:gd name="adj" fmla="val 50000"/>
            </a:avLst>
          </a:prstGeom>
          <a:solidFill xmlns:a="http://schemas.openxmlformats.org/drawingml/2006/main">
            <a:srgbClr val="10221B"/>
          </a:solidFill>
          <a:ln xmlns:a="http://schemas.openxmlformats.org/drawingml/2006/main" w="9525">
            <a:solidFill>
              <a:srgbClr val="234338"/>
            </a:solidFill>
          </a:ln>
        </p:spPr>
      </p:sp>
      <p:sp>
        <p:nvSpPr>
          <p:cNvPr id="28" name="">
            <a:extLst xmlns:a="http://schemas.openxmlformats.org/drawingml/2006/main">
              <a:ext uri="{FF2B5EF4-FFF2-40B4-BE49-F238E27FC236}">
                <a16:creationId xmlns:a16="http://schemas.microsoft.com/office/drawing/2014/main" id="{9B28B0AF-6282-4230-910C-E807BF40BD6C}"/>
              </a:ext>
            </a:extLst>
          </p:cNvPr>
          <p:cNvSpPr>
            <a:spLocks xmlns:a="http://schemas.openxmlformats.org/drawingml/2006/main" noGrp="1"/>
          </p:cNvSpPr>
          <p:nvPr/>
        </p:nvSpPr>
        <p:spPr>
          <a:xfrm xmlns:a="http://schemas.openxmlformats.org/drawingml/2006/main">
            <a:off x="2609850" y="6029325"/>
            <a:ext cx="1638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75" b="1">
                <a:solidFill>
                  <a:srgbClr val="49F39A"/>
                </a:solidFill>
                <a:latin typeface="DejaVu Sans"/>
                <a:ea typeface="DejaVu Sans"/>
                <a:cs typeface="DejaVu Sans"/>
              </a:defRPr>
            </a:pPr>
            <a:r>
              <a:rPr sz="975" b="1">
                <a:solidFill>
                  <a:srgbClr val="49F39A"/>
                </a:solidFill>
                <a:latin typeface="DejaVu Sans"/>
                <a:ea typeface="DejaVu Sans"/>
                <a:cs typeface="DejaVu Sans"/>
              </a:rPr>
              <a:t>PRIVACY FIRST</a:t>
            </a:r>
          </a:p>
        </p:txBody>
      </p:sp>
      <p:sp>
        <p:nvSpPr>
          <p:cNvPr id="29" name="">
            <a:extLst xmlns:a="http://schemas.openxmlformats.org/drawingml/2006/main">
              <a:ext uri="{FF2B5EF4-FFF2-40B4-BE49-F238E27FC236}">
                <a16:creationId xmlns:a16="http://schemas.microsoft.com/office/drawing/2014/main" id="{3CE08CAA-3C06-48D3-A77E-6FE9E570D029}"/>
              </a:ext>
            </a:extLst>
          </p:cNvPr>
          <p:cNvSpPr>
            <a:spLocks xmlns:a="http://schemas.openxmlformats.org/drawingml/2006/main" noGrp="1"/>
          </p:cNvSpPr>
          <p:nvPr/>
        </p:nvSpPr>
        <p:spPr>
          <a:xfrm xmlns:a="http://schemas.openxmlformats.org/drawingml/2006/main">
            <a:off x="4457700" y="5962650"/>
            <a:ext cx="1562100" cy="342900"/>
          </a:xfrm>
          <a:prstGeom xmlns:a="http://schemas.openxmlformats.org/drawingml/2006/main" prst="roundRect">
            <a:avLst>
              <a:gd name="adj" fmla="val 50000"/>
            </a:avLst>
          </a:prstGeom>
          <a:solidFill xmlns:a="http://schemas.openxmlformats.org/drawingml/2006/main">
            <a:srgbClr val="10221B"/>
          </a:solidFill>
          <a:ln xmlns:a="http://schemas.openxmlformats.org/drawingml/2006/main" w="9525">
            <a:solidFill>
              <a:srgbClr val="234338"/>
            </a:solidFill>
          </a:ln>
        </p:spPr>
      </p:sp>
      <p:sp>
        <p:nvSpPr>
          <p:cNvPr id="30" name="">
            <a:extLst xmlns:a="http://schemas.openxmlformats.org/drawingml/2006/main">
              <a:ext uri="{FF2B5EF4-FFF2-40B4-BE49-F238E27FC236}">
                <a16:creationId xmlns:a16="http://schemas.microsoft.com/office/drawing/2014/main" id="{41FE86DB-A85F-4660-AEF1-5044B27FE446}"/>
              </a:ext>
            </a:extLst>
          </p:cNvPr>
          <p:cNvSpPr>
            <a:spLocks xmlns:a="http://schemas.openxmlformats.org/drawingml/2006/main" noGrp="1"/>
          </p:cNvSpPr>
          <p:nvPr/>
        </p:nvSpPr>
        <p:spPr>
          <a:xfrm xmlns:a="http://schemas.openxmlformats.org/drawingml/2006/main">
            <a:off x="4514850" y="6029325"/>
            <a:ext cx="1447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75" b="1">
                <a:solidFill>
                  <a:srgbClr val="49F39A"/>
                </a:solidFill>
                <a:latin typeface="DejaVu Sans"/>
                <a:ea typeface="DejaVu Sans"/>
                <a:cs typeface="DejaVu Sans"/>
              </a:defRPr>
            </a:pPr>
            <a:r>
              <a:rPr sz="975" b="1">
                <a:solidFill>
                  <a:srgbClr val="49F39A"/>
                </a:solidFill>
                <a:latin typeface="DejaVu Sans"/>
                <a:ea typeface="DejaVu Sans"/>
                <a:cs typeface="DejaVu Sans"/>
              </a:rPr>
              <a:t>EDGE READY</a:t>
            </a:r>
          </a:p>
        </p:txBody>
      </p:sp>
      <p:sp>
        <p:nvSpPr>
          <p:cNvPr id="31" name="">
            <a:extLst xmlns:a="http://schemas.openxmlformats.org/drawingml/2006/main">
              <a:ext uri="{FF2B5EF4-FFF2-40B4-BE49-F238E27FC236}">
                <a16:creationId xmlns:a16="http://schemas.microsoft.com/office/drawing/2014/main" id="{CF38C6D5-46D0-40D3-A06A-337B70D644EE}"/>
              </a:ext>
            </a:extLst>
          </p:cNvPr>
          <p:cNvSpPr>
            <a:spLocks xmlns:a="http://schemas.openxmlformats.org/drawingml/2006/main" noGrp="1"/>
          </p:cNvSpPr>
          <p:nvPr/>
        </p:nvSpPr>
        <p:spPr>
          <a:xfrm xmlns:a="http://schemas.openxmlformats.org/drawingml/2006/main">
            <a:off x="111061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9AB7AA"/>
                </a:solidFill>
                <a:latin typeface="DejaVu Sans"/>
                <a:ea typeface="DejaVu Sans"/>
                <a:cs typeface="DejaVu Sans"/>
              </a:defRPr>
            </a:pPr>
            <a:r>
              <a:rPr sz="975" b="0">
                <a:solidFill>
                  <a:srgbClr val="9AB7AA"/>
                </a:solidFill>
                <a:latin typeface="DejaVu Sans"/>
                <a:ea typeface="DejaVu Sans"/>
                <a:cs typeface="DejaVu Sans"/>
              </a:rPr>
              <a:t>03</a:t>
            </a:r>
          </a:p>
        </p:txBody>
      </p:sp>
    </p:spTree>
    <p:extLst>
      <p:ext uri="{BB962C8B-B14F-4D97-AF65-F5344CB8AC3E}">
        <p14:creationId xmlns:p14="http://schemas.microsoft.com/office/powerpoint/2010/main" val="2033070928"/>
      </p:ext>
    </p:extLst>
  </p:cSld>
</p:sld>
</file>

<file path=ppt/slides/slide4.xml><?xml version="1.0" encoding="utf-8"?>
<p:sld xmlns:p="http://schemas.openxmlformats.org/presentationml/2006/main">
  <p:cSld>
    <p:bg>
      <p:bgPr>
        <a:solidFill xmlns:a="http://schemas.openxmlformats.org/drawingml/2006/main">
          <a:srgbClr val="050B0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20B49C8-DFD6-47D9-8D4F-758520A12647}"/>
              </a:ext>
            </a:extLst>
          </p:cNvPr>
          <p:cNvSpPr>
            <a:spLocks xmlns:a="http://schemas.openxmlformats.org/drawingml/2006/main" noGrp="1"/>
          </p:cNvSpPr>
          <p:nvPr/>
        </p:nvSpPr>
        <p:spPr>
          <a:xfrm xmlns:a="http://schemas.openxmlformats.org/drawingml/2006/main">
            <a:off x="609600" y="3619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PRODUCT 01</a:t>
            </a:r>
          </a:p>
        </p:txBody>
      </p:sp>
      <p:sp>
        <p:nvSpPr>
          <p:cNvPr id="2" name="">
            <a:extLst xmlns:a="http://schemas.openxmlformats.org/drawingml/2006/main">
              <a:ext uri="{FF2B5EF4-FFF2-40B4-BE49-F238E27FC236}">
                <a16:creationId xmlns:a16="http://schemas.microsoft.com/office/drawing/2014/main" id="{3B1573E2-B4C1-4A7C-8A88-33B348739B00}"/>
              </a:ext>
            </a:extLst>
          </p:cNvPr>
          <p:cNvSpPr>
            <a:spLocks xmlns:a="http://schemas.openxmlformats.org/drawingml/2006/main" noGrp="1"/>
          </p:cNvSpPr>
          <p:nvPr/>
        </p:nvSpPr>
        <p:spPr>
          <a:xfrm xmlns:a="http://schemas.openxmlformats.org/drawingml/2006/main">
            <a:off x="609600" y="68580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EFBF5"/>
                </a:solidFill>
                <a:latin typeface="DejaVu Sans"/>
                <a:ea typeface="DejaVu Sans"/>
                <a:cs typeface="DejaVu Sans"/>
              </a:defRPr>
            </a:pPr>
            <a:r>
              <a:rPr sz="2700" b="1">
                <a:solidFill>
                  <a:srgbClr val="EEFBF5"/>
                </a:solidFill>
                <a:latin typeface="DejaVu Sans"/>
                <a:ea typeface="DejaVu Sans"/>
                <a:cs typeface="DejaVu Sans"/>
              </a:rPr>
              <a:t>Maia Chat is ready for real use</a:t>
            </a:r>
          </a:p>
        </p:txBody>
      </p:sp>
      <p:sp>
        <p:nvSpPr>
          <p:cNvPr id="3" name="">
            <a:extLst xmlns:a="http://schemas.openxmlformats.org/drawingml/2006/main">
              <a:ext uri="{FF2B5EF4-FFF2-40B4-BE49-F238E27FC236}">
                <a16:creationId xmlns:a16="http://schemas.microsoft.com/office/drawing/2014/main" id="{6AFF4AB9-0C2B-4EB9-A5DF-AE74836CF43B}"/>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B3F7B5-E819-4D3D-8A20-7536A8AB88D1}"/>
              </a:ext>
            </a:extLst>
          </p:cNvPr>
          <p:cNvSpPr>
            <a:spLocks xmlns:a="http://schemas.openxmlformats.org/drawingml/2006/main" noGrp="1"/>
          </p:cNvSpPr>
          <p:nvPr/>
        </p:nvSpPr>
        <p:spPr>
          <a:xfrm xmlns:a="http://schemas.openxmlformats.org/drawingml/2006/main">
            <a:off x="609600" y="16764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EFBF5"/>
                </a:solidFill>
                <a:latin typeface="DejaVu Sans"/>
                <a:ea typeface="DejaVu Sans"/>
                <a:cs typeface="DejaVu Sans"/>
              </a:defRPr>
            </a:pPr>
            <a:r>
              <a:rPr sz="2025" b="1">
                <a:solidFill>
                  <a:srgbClr val="EEFBF5"/>
                </a:solidFill>
                <a:latin typeface="DejaVu Sans"/>
                <a:ea typeface="DejaVu Sans"/>
                <a:cs typeface="DejaVu Sans"/>
              </a:rPr>
              <a:t>A web chat and API for local language models, designed to make private AI practical for everyday users.</a:t>
            </a:r>
          </a:p>
        </p:txBody>
      </p:sp>
      <p:sp>
        <p:nvSpPr>
          <p:cNvPr id="5" name="">
            <a:extLst xmlns:a="http://schemas.openxmlformats.org/drawingml/2006/main">
              <a:ext uri="{FF2B5EF4-FFF2-40B4-BE49-F238E27FC236}">
                <a16:creationId xmlns:a16="http://schemas.microsoft.com/office/drawing/2014/main" id="{D5A08CFB-56FD-48C5-BD8A-440DE4BBF7C4}"/>
              </a:ext>
            </a:extLst>
          </p:cNvPr>
          <p:cNvSpPr>
            <a:spLocks xmlns:a="http://schemas.openxmlformats.org/drawingml/2006/main" noGrp="1"/>
          </p:cNvSpPr>
          <p:nvPr/>
        </p:nvSpPr>
        <p:spPr>
          <a:xfrm xmlns:a="http://schemas.openxmlformats.org/drawingml/2006/main">
            <a:off x="609600" y="2647950"/>
            <a:ext cx="4438650" cy="3028950"/>
          </a:xfrm>
          <a:prstGeom xmlns:a="http://schemas.openxmlformats.org/drawingml/2006/main" prst="roundRect">
            <a:avLst>
              <a:gd name="adj" fmla="val 6918"/>
            </a:avLst>
          </a:prstGeom>
          <a:solidFill xmlns:a="http://schemas.openxmlformats.org/drawingml/2006/main">
            <a:srgbClr val="0B1612"/>
          </a:solidFill>
          <a:ln xmlns:a="http://schemas.openxmlformats.org/drawingml/2006/main" w="9525">
            <a:solidFill>
              <a:srgbClr val="234338"/>
            </a:solidFill>
          </a:ln>
        </p:spPr>
      </p:sp>
      <p:sp>
        <p:nvSpPr>
          <p:cNvPr id="6" name="">
            <a:extLst xmlns:a="http://schemas.openxmlformats.org/drawingml/2006/main">
              <a:ext uri="{FF2B5EF4-FFF2-40B4-BE49-F238E27FC236}">
                <a16:creationId xmlns:a16="http://schemas.microsoft.com/office/drawing/2014/main" id="{0C3DD284-FA3E-425F-8F73-10E411A460F5}"/>
              </a:ext>
            </a:extLst>
          </p:cNvPr>
          <p:cNvSpPr>
            <a:spLocks xmlns:a="http://schemas.openxmlformats.org/drawingml/2006/main" noGrp="1"/>
          </p:cNvSpPr>
          <p:nvPr/>
        </p:nvSpPr>
        <p:spPr>
          <a:xfrm xmlns:a="http://schemas.openxmlformats.org/drawingml/2006/main">
            <a:off x="876300" y="290512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LIVE PRODUCT</a:t>
            </a:r>
          </a:p>
        </p:txBody>
      </p:sp>
      <p:sp>
        <p:nvSpPr>
          <p:cNvPr id="7" name="">
            <a:extLst xmlns:a="http://schemas.openxmlformats.org/drawingml/2006/main">
              <a:ext uri="{FF2B5EF4-FFF2-40B4-BE49-F238E27FC236}">
                <a16:creationId xmlns:a16="http://schemas.microsoft.com/office/drawing/2014/main" id="{227FC75A-722D-4F1D-B684-5C82A7C262D8}"/>
              </a:ext>
            </a:extLst>
          </p:cNvPr>
          <p:cNvSpPr>
            <a:spLocks xmlns:a="http://schemas.openxmlformats.org/drawingml/2006/main" noGrp="1"/>
          </p:cNvSpPr>
          <p:nvPr/>
        </p:nvSpPr>
        <p:spPr>
          <a:xfrm xmlns:a="http://schemas.openxmlformats.org/drawingml/2006/main">
            <a:off x="876300" y="32766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2E9FF"/>
                </a:solidFill>
                <a:latin typeface="DejaVu Sans Mono"/>
                <a:ea typeface="DejaVu Sans Mono"/>
                <a:cs typeface="DejaVu Sans Mono"/>
              </a:defRPr>
            </a:pPr>
            <a:r>
              <a:rPr sz="1800" b="1">
                <a:solidFill>
                  <a:srgbClr val="62E9FF"/>
                </a:solidFill>
                <a:latin typeface="DejaVu Sans Mono"/>
                <a:ea typeface="DejaVu Sans Mono"/>
                <a:cs typeface="DejaVu Sans Mono"/>
              </a:rPr>
              <a:t>chat.maiaplatform.org</a:t>
            </a:r>
          </a:p>
        </p:txBody>
      </p:sp>
      <p:sp>
        <p:nvSpPr>
          <p:cNvPr id="8" name="">
            <a:extLst xmlns:a="http://schemas.openxmlformats.org/drawingml/2006/main">
              <a:ext uri="{FF2B5EF4-FFF2-40B4-BE49-F238E27FC236}">
                <a16:creationId xmlns:a16="http://schemas.microsoft.com/office/drawing/2014/main" id="{03738F34-3A71-4F70-AA20-AA888DFDADAE}"/>
              </a:ext>
            </a:extLst>
          </p:cNvPr>
          <p:cNvSpPr>
            <a:spLocks xmlns:a="http://schemas.openxmlformats.org/drawingml/2006/main" noGrp="1"/>
          </p:cNvSpPr>
          <p:nvPr/>
        </p:nvSpPr>
        <p:spPr>
          <a:xfrm xmlns:a="http://schemas.openxmlformats.org/drawingml/2006/main">
            <a:off x="876300" y="384810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9AB7AA"/>
                </a:solidFill>
                <a:latin typeface="DejaVu Sans"/>
                <a:ea typeface="DejaVu Sans"/>
                <a:cs typeface="DejaVu Sans"/>
              </a:defRPr>
            </a:pPr>
            <a:r>
              <a:rPr sz="1575" b="0">
                <a:solidFill>
                  <a:srgbClr val="9AB7AA"/>
                </a:solidFill>
                <a:latin typeface="DejaVu Sans"/>
                <a:ea typeface="DejaVu Sans"/>
                <a:cs typeface="DejaVu Sans"/>
              </a:rPr>
              <a:t>Online today, with source code published openly.</a:t>
            </a:r>
          </a:p>
        </p:txBody>
      </p:sp>
      <p:sp>
        <p:nvSpPr>
          <p:cNvPr id="9" name="">
            <a:extLst xmlns:a="http://schemas.openxmlformats.org/drawingml/2006/main">
              <a:ext uri="{FF2B5EF4-FFF2-40B4-BE49-F238E27FC236}">
                <a16:creationId xmlns:a16="http://schemas.microsoft.com/office/drawing/2014/main" id="{684112E7-FDF3-4563-975C-0D4AD1A5127A}"/>
              </a:ext>
            </a:extLst>
          </p:cNvPr>
          <p:cNvSpPr>
            <a:spLocks xmlns:a="http://schemas.openxmlformats.org/drawingml/2006/main" noGrp="1"/>
          </p:cNvSpPr>
          <p:nvPr/>
        </p:nvSpPr>
        <p:spPr>
          <a:xfrm xmlns:a="http://schemas.openxmlformats.org/drawingml/2006/main">
            <a:off x="876300" y="4838700"/>
            <a:ext cx="590550" cy="342900"/>
          </a:xfrm>
          <a:prstGeom xmlns:a="http://schemas.openxmlformats.org/drawingml/2006/main" prst="roundRect">
            <a:avLst>
              <a:gd name="adj" fmla="val 50000"/>
            </a:avLst>
          </a:prstGeom>
          <a:solidFill xmlns:a="http://schemas.openxmlformats.org/drawingml/2006/main">
            <a:srgbClr val="10221B"/>
          </a:solidFill>
          <a:ln xmlns:a="http://schemas.openxmlformats.org/drawingml/2006/main" w="9525">
            <a:solidFill>
              <a:srgbClr val="234338"/>
            </a:solidFill>
          </a:ln>
        </p:spPr>
      </p:sp>
      <p:sp>
        <p:nvSpPr>
          <p:cNvPr id="10" name="">
            <a:extLst xmlns:a="http://schemas.openxmlformats.org/drawingml/2006/main">
              <a:ext uri="{FF2B5EF4-FFF2-40B4-BE49-F238E27FC236}">
                <a16:creationId xmlns:a16="http://schemas.microsoft.com/office/drawing/2014/main" id="{A5AC118C-75AB-42AD-922B-4D5857873C98}"/>
              </a:ext>
            </a:extLst>
          </p:cNvPr>
          <p:cNvSpPr>
            <a:spLocks xmlns:a="http://schemas.openxmlformats.org/drawingml/2006/main" noGrp="1"/>
          </p:cNvSpPr>
          <p:nvPr/>
        </p:nvSpPr>
        <p:spPr>
          <a:xfrm xmlns:a="http://schemas.openxmlformats.org/drawingml/2006/main">
            <a:off x="933450" y="49053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75" b="1">
                <a:solidFill>
                  <a:srgbClr val="49F39A"/>
                </a:solidFill>
                <a:latin typeface="DejaVu Sans"/>
                <a:ea typeface="DejaVu Sans"/>
                <a:cs typeface="DejaVu Sans"/>
              </a:defRPr>
            </a:pPr>
            <a:r>
              <a:rPr sz="975" b="1">
                <a:solidFill>
                  <a:srgbClr val="49F39A"/>
                </a:solidFill>
                <a:latin typeface="DejaVu Sans"/>
                <a:ea typeface="DejaVu Sans"/>
                <a:cs typeface="DejaVu Sans"/>
              </a:rPr>
              <a:t>EN</a:t>
            </a:r>
          </a:p>
        </p:txBody>
      </p:sp>
      <p:sp>
        <p:nvSpPr>
          <p:cNvPr id="11" name="">
            <a:extLst xmlns:a="http://schemas.openxmlformats.org/drawingml/2006/main">
              <a:ext uri="{FF2B5EF4-FFF2-40B4-BE49-F238E27FC236}">
                <a16:creationId xmlns:a16="http://schemas.microsoft.com/office/drawing/2014/main" id="{5BDE5BE6-2904-4B24-830B-719BE17C1FBA}"/>
              </a:ext>
            </a:extLst>
          </p:cNvPr>
          <p:cNvSpPr>
            <a:spLocks xmlns:a="http://schemas.openxmlformats.org/drawingml/2006/main" noGrp="1"/>
          </p:cNvSpPr>
          <p:nvPr/>
        </p:nvSpPr>
        <p:spPr>
          <a:xfrm xmlns:a="http://schemas.openxmlformats.org/drawingml/2006/main">
            <a:off x="1581150" y="4838700"/>
            <a:ext cx="590550" cy="342900"/>
          </a:xfrm>
          <a:prstGeom xmlns:a="http://schemas.openxmlformats.org/drawingml/2006/main" prst="roundRect">
            <a:avLst>
              <a:gd name="adj" fmla="val 50000"/>
            </a:avLst>
          </a:prstGeom>
          <a:solidFill xmlns:a="http://schemas.openxmlformats.org/drawingml/2006/main">
            <a:srgbClr val="10221B"/>
          </a:solidFill>
          <a:ln xmlns:a="http://schemas.openxmlformats.org/drawingml/2006/main" w="9525">
            <a:solidFill>
              <a:srgbClr val="234338"/>
            </a:solidFill>
          </a:ln>
        </p:spPr>
      </p:sp>
      <p:sp>
        <p:nvSpPr>
          <p:cNvPr id="12" name="">
            <a:extLst xmlns:a="http://schemas.openxmlformats.org/drawingml/2006/main">
              <a:ext uri="{FF2B5EF4-FFF2-40B4-BE49-F238E27FC236}">
                <a16:creationId xmlns:a16="http://schemas.microsoft.com/office/drawing/2014/main" id="{95868580-3699-43E5-8575-1B404B162AA3}"/>
              </a:ext>
            </a:extLst>
          </p:cNvPr>
          <p:cNvSpPr>
            <a:spLocks xmlns:a="http://schemas.openxmlformats.org/drawingml/2006/main" noGrp="1"/>
          </p:cNvSpPr>
          <p:nvPr/>
        </p:nvSpPr>
        <p:spPr>
          <a:xfrm xmlns:a="http://schemas.openxmlformats.org/drawingml/2006/main">
            <a:off x="1638300" y="49053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75" b="1">
                <a:solidFill>
                  <a:srgbClr val="49F39A"/>
                </a:solidFill>
                <a:latin typeface="DejaVu Sans"/>
                <a:ea typeface="DejaVu Sans"/>
                <a:cs typeface="DejaVu Sans"/>
              </a:defRPr>
            </a:pPr>
            <a:r>
              <a:rPr sz="975" b="1">
                <a:solidFill>
                  <a:srgbClr val="49F39A"/>
                </a:solidFill>
                <a:latin typeface="DejaVu Sans"/>
                <a:ea typeface="DejaVu Sans"/>
                <a:cs typeface="DejaVu Sans"/>
              </a:rPr>
              <a:t>PT</a:t>
            </a:r>
          </a:p>
        </p:txBody>
      </p:sp>
      <p:sp>
        <p:nvSpPr>
          <p:cNvPr id="13" name="">
            <a:extLst xmlns:a="http://schemas.openxmlformats.org/drawingml/2006/main">
              <a:ext uri="{FF2B5EF4-FFF2-40B4-BE49-F238E27FC236}">
                <a16:creationId xmlns:a16="http://schemas.microsoft.com/office/drawing/2014/main" id="{AE1DFCB6-7587-4001-B572-D939A6DA83E6}"/>
              </a:ext>
            </a:extLst>
          </p:cNvPr>
          <p:cNvSpPr>
            <a:spLocks xmlns:a="http://schemas.openxmlformats.org/drawingml/2006/main" noGrp="1"/>
          </p:cNvSpPr>
          <p:nvPr/>
        </p:nvSpPr>
        <p:spPr>
          <a:xfrm xmlns:a="http://schemas.openxmlformats.org/drawingml/2006/main">
            <a:off x="2286000" y="4838700"/>
            <a:ext cx="590550" cy="342900"/>
          </a:xfrm>
          <a:prstGeom xmlns:a="http://schemas.openxmlformats.org/drawingml/2006/main" prst="roundRect">
            <a:avLst>
              <a:gd name="adj" fmla="val 50000"/>
            </a:avLst>
          </a:prstGeom>
          <a:solidFill xmlns:a="http://schemas.openxmlformats.org/drawingml/2006/main">
            <a:srgbClr val="10221B"/>
          </a:solidFill>
          <a:ln xmlns:a="http://schemas.openxmlformats.org/drawingml/2006/main" w="9525">
            <a:solidFill>
              <a:srgbClr val="234338"/>
            </a:solidFill>
          </a:ln>
        </p:spPr>
      </p:sp>
      <p:sp>
        <p:nvSpPr>
          <p:cNvPr id="14" name="">
            <a:extLst xmlns:a="http://schemas.openxmlformats.org/drawingml/2006/main">
              <a:ext uri="{FF2B5EF4-FFF2-40B4-BE49-F238E27FC236}">
                <a16:creationId xmlns:a16="http://schemas.microsoft.com/office/drawing/2014/main" id="{50FD0CDF-59C9-416A-BC5C-DDCF47D66914}"/>
              </a:ext>
            </a:extLst>
          </p:cNvPr>
          <p:cNvSpPr>
            <a:spLocks xmlns:a="http://schemas.openxmlformats.org/drawingml/2006/main" noGrp="1"/>
          </p:cNvSpPr>
          <p:nvPr/>
        </p:nvSpPr>
        <p:spPr>
          <a:xfrm xmlns:a="http://schemas.openxmlformats.org/drawingml/2006/main">
            <a:off x="2343150" y="49053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975" b="1">
                <a:solidFill>
                  <a:srgbClr val="49F39A"/>
                </a:solidFill>
                <a:latin typeface="DejaVu Sans"/>
                <a:ea typeface="DejaVu Sans"/>
                <a:cs typeface="DejaVu Sans"/>
              </a:defRPr>
            </a:pPr>
            <a:r>
              <a:rPr sz="975" b="1">
                <a:solidFill>
                  <a:srgbClr val="49F39A"/>
                </a:solidFill>
                <a:latin typeface="DejaVu Sans"/>
                <a:ea typeface="DejaVu Sans"/>
                <a:cs typeface="DejaVu Sans"/>
              </a:rPr>
              <a:t>ES</a:t>
            </a:r>
          </a:p>
        </p:txBody>
      </p:sp>
      <p:sp>
        <p:nvSpPr>
          <p:cNvPr id="15" name="">
            <a:extLst xmlns:a="http://schemas.openxmlformats.org/drawingml/2006/main">
              <a:ext uri="{FF2B5EF4-FFF2-40B4-BE49-F238E27FC236}">
                <a16:creationId xmlns:a16="http://schemas.microsoft.com/office/drawing/2014/main" id="{F2C794CA-E6CB-406C-AF0C-77EE703CCE60}"/>
              </a:ext>
            </a:extLst>
          </p:cNvPr>
          <p:cNvSpPr>
            <a:spLocks xmlns:a="http://schemas.openxmlformats.org/drawingml/2006/main" noGrp="1"/>
          </p:cNvSpPr>
          <p:nvPr/>
        </p:nvSpPr>
        <p:spPr>
          <a:xfrm xmlns:a="http://schemas.openxmlformats.org/drawingml/2006/main">
            <a:off x="5619750" y="27051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EFBF5"/>
                </a:solidFill>
                <a:latin typeface="DejaVu Sans"/>
                <a:ea typeface="DejaVu Sans"/>
                <a:cs typeface="DejaVu Sans"/>
              </a:defRPr>
            </a:pPr>
            <a:r>
              <a:rPr sz="1500" b="1">
                <a:solidFill>
                  <a:srgbClr val="EEFBF5"/>
                </a:solidFill>
                <a:latin typeface="DejaVu Sans"/>
                <a:ea typeface="DejaVu Sans"/>
                <a:cs typeface="DejaVu Sans"/>
              </a:rPr>
              <a:t>Streaming conversation</a:t>
            </a:r>
          </a:p>
        </p:txBody>
      </p:sp>
      <p:sp>
        <p:nvSpPr>
          <p:cNvPr id="16" name="">
            <a:extLst xmlns:a="http://schemas.openxmlformats.org/drawingml/2006/main">
              <a:ext uri="{FF2B5EF4-FFF2-40B4-BE49-F238E27FC236}">
                <a16:creationId xmlns:a16="http://schemas.microsoft.com/office/drawing/2014/main" id="{C6D043BA-937B-4263-83E1-9F914AC1756A}"/>
              </a:ext>
            </a:extLst>
          </p:cNvPr>
          <p:cNvSpPr>
            <a:spLocks xmlns:a="http://schemas.openxmlformats.org/drawingml/2006/main" noGrp="1"/>
          </p:cNvSpPr>
          <p:nvPr/>
        </p:nvSpPr>
        <p:spPr>
          <a:xfrm xmlns:a="http://schemas.openxmlformats.org/drawingml/2006/main">
            <a:off x="8362950" y="270510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B7AA"/>
                </a:solidFill>
                <a:latin typeface="DejaVu Sans"/>
                <a:ea typeface="DejaVu Sans"/>
                <a:cs typeface="DejaVu Sans"/>
              </a:defRPr>
            </a:pPr>
            <a:r>
              <a:rPr sz="1275" b="0">
                <a:solidFill>
                  <a:srgbClr val="9AB7AA"/>
                </a:solidFill>
                <a:latin typeface="DejaVu Sans"/>
                <a:ea typeface="DejaVu Sans"/>
                <a:cs typeface="DejaVu Sans"/>
              </a:rPr>
              <a:t>Responses appear as the model generates them.</a:t>
            </a:r>
          </a:p>
        </p:txBody>
      </p:sp>
      <p:sp>
        <p:nvSpPr>
          <p:cNvPr id="17" name="">
            <a:extLst xmlns:a="http://schemas.openxmlformats.org/drawingml/2006/main">
              <a:ext uri="{FF2B5EF4-FFF2-40B4-BE49-F238E27FC236}">
                <a16:creationId xmlns:a16="http://schemas.microsoft.com/office/drawing/2014/main" id="{90D401BB-3844-4EF6-9FD0-4666E2BE0BA9}"/>
              </a:ext>
            </a:extLst>
          </p:cNvPr>
          <p:cNvSpPr>
            <a:spLocks xmlns:a="http://schemas.openxmlformats.org/drawingml/2006/main" noGrp="1"/>
          </p:cNvSpPr>
          <p:nvPr/>
        </p:nvSpPr>
        <p:spPr>
          <a:xfrm xmlns:a="http://schemas.openxmlformats.org/drawingml/2006/main">
            <a:off x="5619750" y="3333750"/>
            <a:ext cx="5791200" cy="9525"/>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7289447-EA67-49EE-904C-0B87C3BE782E}"/>
              </a:ext>
            </a:extLst>
          </p:cNvPr>
          <p:cNvSpPr>
            <a:spLocks xmlns:a="http://schemas.openxmlformats.org/drawingml/2006/main" noGrp="1"/>
          </p:cNvSpPr>
          <p:nvPr/>
        </p:nvSpPr>
        <p:spPr>
          <a:xfrm xmlns:a="http://schemas.openxmlformats.org/drawingml/2006/main">
            <a:off x="5619750" y="35052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EFBF5"/>
                </a:solidFill>
                <a:latin typeface="DejaVu Sans"/>
                <a:ea typeface="DejaVu Sans"/>
                <a:cs typeface="DejaVu Sans"/>
              </a:defRPr>
            </a:pPr>
            <a:r>
              <a:rPr sz="1500" b="1">
                <a:solidFill>
                  <a:srgbClr val="EEFBF5"/>
                </a:solidFill>
                <a:latin typeface="DejaVu Sans"/>
                <a:ea typeface="DejaVu Sans"/>
                <a:cs typeface="DejaVu Sans"/>
              </a:rPr>
              <a:t>Document workflows</a:t>
            </a:r>
          </a:p>
        </p:txBody>
      </p:sp>
      <p:sp>
        <p:nvSpPr>
          <p:cNvPr id="19" name="">
            <a:extLst xmlns:a="http://schemas.openxmlformats.org/drawingml/2006/main">
              <a:ext uri="{FF2B5EF4-FFF2-40B4-BE49-F238E27FC236}">
                <a16:creationId xmlns:a16="http://schemas.microsoft.com/office/drawing/2014/main" id="{2F2C0729-91B4-4D31-AF77-85ADB0459F02}"/>
              </a:ext>
            </a:extLst>
          </p:cNvPr>
          <p:cNvSpPr>
            <a:spLocks xmlns:a="http://schemas.openxmlformats.org/drawingml/2006/main" noGrp="1"/>
          </p:cNvSpPr>
          <p:nvPr/>
        </p:nvSpPr>
        <p:spPr>
          <a:xfrm xmlns:a="http://schemas.openxmlformats.org/drawingml/2006/main">
            <a:off x="8362950" y="350520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B7AA"/>
                </a:solidFill>
                <a:latin typeface="DejaVu Sans"/>
                <a:ea typeface="DejaVu Sans"/>
                <a:cs typeface="DejaVu Sans"/>
              </a:defRPr>
            </a:pPr>
            <a:r>
              <a:rPr sz="1275" b="0">
                <a:solidFill>
                  <a:srgbClr val="9AB7AA"/>
                </a:solidFill>
                <a:latin typeface="DejaVu Sans"/>
                <a:ea typeface="DejaVu Sans"/>
                <a:cs typeface="DejaVu Sans"/>
              </a:rPr>
              <a:t>Attach files and organize reusable document collections.</a:t>
            </a:r>
          </a:p>
        </p:txBody>
      </p:sp>
      <p:sp>
        <p:nvSpPr>
          <p:cNvPr id="20" name="">
            <a:extLst xmlns:a="http://schemas.openxmlformats.org/drawingml/2006/main">
              <a:ext uri="{FF2B5EF4-FFF2-40B4-BE49-F238E27FC236}">
                <a16:creationId xmlns:a16="http://schemas.microsoft.com/office/drawing/2014/main" id="{98607223-2345-44CE-99DF-2650A25C9DD6}"/>
              </a:ext>
            </a:extLst>
          </p:cNvPr>
          <p:cNvSpPr>
            <a:spLocks xmlns:a="http://schemas.openxmlformats.org/drawingml/2006/main" noGrp="1"/>
          </p:cNvSpPr>
          <p:nvPr/>
        </p:nvSpPr>
        <p:spPr>
          <a:xfrm xmlns:a="http://schemas.openxmlformats.org/drawingml/2006/main">
            <a:off x="5619750" y="4133850"/>
            <a:ext cx="5791200" cy="9525"/>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6BEFF16-04F6-499C-B140-6F6187EFE1FF}"/>
              </a:ext>
            </a:extLst>
          </p:cNvPr>
          <p:cNvSpPr>
            <a:spLocks xmlns:a="http://schemas.openxmlformats.org/drawingml/2006/main" noGrp="1"/>
          </p:cNvSpPr>
          <p:nvPr/>
        </p:nvSpPr>
        <p:spPr>
          <a:xfrm xmlns:a="http://schemas.openxmlformats.org/drawingml/2006/main">
            <a:off x="5619750" y="43053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EFBF5"/>
                </a:solidFill>
                <a:latin typeface="DejaVu Sans"/>
                <a:ea typeface="DejaVu Sans"/>
                <a:cs typeface="DejaVu Sans"/>
              </a:defRPr>
            </a:pPr>
            <a:r>
              <a:rPr sz="1500" b="1">
                <a:solidFill>
                  <a:srgbClr val="EEFBF5"/>
                </a:solidFill>
                <a:latin typeface="DejaVu Sans"/>
                <a:ea typeface="DejaVu Sans"/>
                <a:cs typeface="DejaVu Sans"/>
              </a:rPr>
              <a:t>Local model choice</a:t>
            </a:r>
          </a:p>
        </p:txBody>
      </p:sp>
      <p:sp>
        <p:nvSpPr>
          <p:cNvPr id="22" name="">
            <a:extLst xmlns:a="http://schemas.openxmlformats.org/drawingml/2006/main">
              <a:ext uri="{FF2B5EF4-FFF2-40B4-BE49-F238E27FC236}">
                <a16:creationId xmlns:a16="http://schemas.microsoft.com/office/drawing/2014/main" id="{9E599A11-56F4-4048-8734-5D458480F8FE}"/>
              </a:ext>
            </a:extLst>
          </p:cNvPr>
          <p:cNvSpPr>
            <a:spLocks xmlns:a="http://schemas.openxmlformats.org/drawingml/2006/main" noGrp="1"/>
          </p:cNvSpPr>
          <p:nvPr/>
        </p:nvSpPr>
        <p:spPr>
          <a:xfrm xmlns:a="http://schemas.openxmlformats.org/drawingml/2006/main">
            <a:off x="8362950" y="430530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B7AA"/>
                </a:solidFill>
                <a:latin typeface="DejaVu Sans"/>
                <a:ea typeface="DejaVu Sans"/>
                <a:cs typeface="DejaVu Sans"/>
              </a:defRPr>
            </a:pPr>
            <a:r>
              <a:rPr sz="1275" b="0">
                <a:solidFill>
                  <a:srgbClr val="9AB7AA"/>
                </a:solidFill>
                <a:latin typeface="DejaVu Sans"/>
                <a:ea typeface="DejaVu Sans"/>
                <a:cs typeface="DejaVu Sans"/>
              </a:rPr>
              <a:t>The interface connects to independent models served locally.</a:t>
            </a:r>
          </a:p>
        </p:txBody>
      </p:sp>
      <p:sp>
        <p:nvSpPr>
          <p:cNvPr id="23" name="">
            <a:extLst xmlns:a="http://schemas.openxmlformats.org/drawingml/2006/main">
              <a:ext uri="{FF2B5EF4-FFF2-40B4-BE49-F238E27FC236}">
                <a16:creationId xmlns:a16="http://schemas.microsoft.com/office/drawing/2014/main" id="{5058B485-1BB6-432C-AFF2-E97818D16C03}"/>
              </a:ext>
            </a:extLst>
          </p:cNvPr>
          <p:cNvSpPr>
            <a:spLocks xmlns:a="http://schemas.openxmlformats.org/drawingml/2006/main" noGrp="1"/>
          </p:cNvSpPr>
          <p:nvPr/>
        </p:nvSpPr>
        <p:spPr>
          <a:xfrm xmlns:a="http://schemas.openxmlformats.org/drawingml/2006/main">
            <a:off x="5619750" y="4933950"/>
            <a:ext cx="5791200" cy="9525"/>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6A7C2C1-17F6-4BA7-BF5D-590A457490A6}"/>
              </a:ext>
            </a:extLst>
          </p:cNvPr>
          <p:cNvSpPr>
            <a:spLocks xmlns:a="http://schemas.openxmlformats.org/drawingml/2006/main" noGrp="1"/>
          </p:cNvSpPr>
          <p:nvPr/>
        </p:nvSpPr>
        <p:spPr>
          <a:xfrm xmlns:a="http://schemas.openxmlformats.org/drawingml/2006/main">
            <a:off x="5619750" y="51054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EFBF5"/>
                </a:solidFill>
                <a:latin typeface="DejaVu Sans"/>
                <a:ea typeface="DejaVu Sans"/>
                <a:cs typeface="DejaVu Sans"/>
              </a:defRPr>
            </a:pPr>
            <a:r>
              <a:rPr sz="1500" b="1">
                <a:solidFill>
                  <a:srgbClr val="EEFBF5"/>
                </a:solidFill>
                <a:latin typeface="DejaVu Sans"/>
                <a:ea typeface="DejaVu Sans"/>
                <a:cs typeface="DejaVu Sans"/>
              </a:rPr>
              <a:t>Portable history</a:t>
            </a:r>
          </a:p>
        </p:txBody>
      </p:sp>
      <p:sp>
        <p:nvSpPr>
          <p:cNvPr id="25" name="">
            <a:extLst xmlns:a="http://schemas.openxmlformats.org/drawingml/2006/main">
              <a:ext uri="{FF2B5EF4-FFF2-40B4-BE49-F238E27FC236}">
                <a16:creationId xmlns:a16="http://schemas.microsoft.com/office/drawing/2014/main" id="{6170475D-1E72-4BCB-9F1C-39B448F217B2}"/>
              </a:ext>
            </a:extLst>
          </p:cNvPr>
          <p:cNvSpPr>
            <a:spLocks xmlns:a="http://schemas.openxmlformats.org/drawingml/2006/main" noGrp="1"/>
          </p:cNvSpPr>
          <p:nvPr/>
        </p:nvSpPr>
        <p:spPr>
          <a:xfrm xmlns:a="http://schemas.openxmlformats.org/drawingml/2006/main">
            <a:off x="8362950" y="510540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B7AA"/>
                </a:solidFill>
                <a:latin typeface="DejaVu Sans"/>
                <a:ea typeface="DejaVu Sans"/>
                <a:cs typeface="DejaVu Sans"/>
              </a:defRPr>
            </a:pPr>
            <a:r>
              <a:rPr sz="1275" b="0">
                <a:solidFill>
                  <a:srgbClr val="9AB7AA"/>
                </a:solidFill>
                <a:latin typeface="DejaVu Sans"/>
                <a:ea typeface="DejaVu Sans"/>
                <a:cs typeface="DejaVu Sans"/>
              </a:rPr>
              <a:t>Import and export conversations in Markdown and JSON.</a:t>
            </a:r>
          </a:p>
        </p:txBody>
      </p:sp>
      <p:sp>
        <p:nvSpPr>
          <p:cNvPr id="26" name="">
            <a:extLst xmlns:a="http://schemas.openxmlformats.org/drawingml/2006/main">
              <a:ext uri="{FF2B5EF4-FFF2-40B4-BE49-F238E27FC236}">
                <a16:creationId xmlns:a16="http://schemas.microsoft.com/office/drawing/2014/main" id="{AD88650D-B422-46AC-B08E-432826FA89E0}"/>
              </a:ext>
            </a:extLst>
          </p:cNvPr>
          <p:cNvSpPr>
            <a:spLocks xmlns:a="http://schemas.openxmlformats.org/drawingml/2006/main" noGrp="1"/>
          </p:cNvSpPr>
          <p:nvPr/>
        </p:nvSpPr>
        <p:spPr>
          <a:xfrm xmlns:a="http://schemas.openxmlformats.org/drawingml/2006/main">
            <a:off x="111061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9AB7AA"/>
                </a:solidFill>
                <a:latin typeface="DejaVu Sans"/>
                <a:ea typeface="DejaVu Sans"/>
                <a:cs typeface="DejaVu Sans"/>
              </a:defRPr>
            </a:pPr>
            <a:r>
              <a:rPr sz="975" b="0">
                <a:solidFill>
                  <a:srgbClr val="9AB7AA"/>
                </a:solidFill>
                <a:latin typeface="DejaVu Sans"/>
                <a:ea typeface="DejaVu Sans"/>
                <a:cs typeface="DejaVu Sans"/>
              </a:rPr>
              <a:t>04</a:t>
            </a:r>
          </a:p>
        </p:txBody>
      </p:sp>
    </p:spTree>
    <p:extLst>
      <p:ext uri="{BB962C8B-B14F-4D97-AF65-F5344CB8AC3E}">
        <p14:creationId xmlns:p14="http://schemas.microsoft.com/office/powerpoint/2010/main" val="1158927151"/>
      </p:ext>
    </p:extLst>
  </p:cSld>
</p:sld>
</file>

<file path=ppt/slides/slide5.xml><?xml version="1.0" encoding="utf-8"?>
<p:sld xmlns:p="http://schemas.openxmlformats.org/presentationml/2006/main">
  <p:cSld>
    <p:bg>
      <p:bgPr>
        <a:solidFill xmlns:a="http://schemas.openxmlformats.org/drawingml/2006/main">
          <a:srgbClr val="050B0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2ADA5F3-A807-4DF7-B2A6-B64BB35FF836}"/>
              </a:ext>
            </a:extLst>
          </p:cNvPr>
          <p:cNvSpPr>
            <a:spLocks xmlns:a="http://schemas.openxmlformats.org/drawingml/2006/main" noGrp="1"/>
          </p:cNvSpPr>
          <p:nvPr/>
        </p:nvSpPr>
        <p:spPr>
          <a:xfrm xmlns:a="http://schemas.openxmlformats.org/drawingml/2006/main">
            <a:off x="609600" y="3619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PRODUCT 02</a:t>
            </a:r>
          </a:p>
        </p:txBody>
      </p:sp>
      <p:sp>
        <p:nvSpPr>
          <p:cNvPr id="2" name="">
            <a:extLst xmlns:a="http://schemas.openxmlformats.org/drawingml/2006/main">
              <a:ext uri="{FF2B5EF4-FFF2-40B4-BE49-F238E27FC236}">
                <a16:creationId xmlns:a16="http://schemas.microsoft.com/office/drawing/2014/main" id="{528E4AAA-CC1E-4F0C-AA88-C808D7CA1028}"/>
              </a:ext>
            </a:extLst>
          </p:cNvPr>
          <p:cNvSpPr>
            <a:spLocks xmlns:a="http://schemas.openxmlformats.org/drawingml/2006/main" noGrp="1"/>
          </p:cNvSpPr>
          <p:nvPr/>
        </p:nvSpPr>
        <p:spPr>
          <a:xfrm xmlns:a="http://schemas.openxmlformats.org/drawingml/2006/main">
            <a:off x="609600" y="68580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EFBF5"/>
                </a:solidFill>
                <a:latin typeface="DejaVu Sans"/>
                <a:ea typeface="DejaVu Sans"/>
                <a:cs typeface="DejaVu Sans"/>
              </a:defRPr>
            </a:pPr>
            <a:r>
              <a:rPr sz="2700" b="1">
                <a:solidFill>
                  <a:srgbClr val="EEFBF5"/>
                </a:solidFill>
                <a:latin typeface="DejaVu Sans"/>
                <a:ea typeface="DejaVu Sans"/>
                <a:cs typeface="DejaVu Sans"/>
              </a:rPr>
              <a:t>Maia RAG turns files into governed knowledge</a:t>
            </a:r>
          </a:p>
        </p:txBody>
      </p:sp>
      <p:sp>
        <p:nvSpPr>
          <p:cNvPr id="3" name="">
            <a:extLst xmlns:a="http://schemas.openxmlformats.org/drawingml/2006/main">
              <a:ext uri="{FF2B5EF4-FFF2-40B4-BE49-F238E27FC236}">
                <a16:creationId xmlns:a16="http://schemas.microsoft.com/office/drawing/2014/main" id="{41DC6500-5240-4000-9B84-C59D3D743122}"/>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0A8342-98DC-4A56-8531-6ECFAEC3174D}"/>
              </a:ext>
            </a:extLst>
          </p:cNvPr>
          <p:cNvSpPr>
            <a:spLocks xmlns:a="http://schemas.openxmlformats.org/drawingml/2006/main" noGrp="1"/>
          </p:cNvSpPr>
          <p:nvPr/>
        </p:nvSpPr>
        <p:spPr>
          <a:xfrm xmlns:a="http://schemas.openxmlformats.org/drawingml/2006/main">
            <a:off x="609600" y="16764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EFBF5"/>
                </a:solidFill>
                <a:latin typeface="DejaVu Sans"/>
                <a:ea typeface="DejaVu Sans"/>
                <a:cs typeface="DejaVu Sans"/>
              </a:defRPr>
            </a:pPr>
            <a:r>
              <a:rPr sz="2025" b="1">
                <a:solidFill>
                  <a:srgbClr val="EEFBF5"/>
                </a:solidFill>
                <a:latin typeface="DejaVu Sans"/>
                <a:ea typeface="DejaVu Sans"/>
                <a:cs typeface="DejaVu Sans"/>
              </a:rPr>
              <a:t>A shared knowledge service for Maia Chat and other applications, built around local indexing and retrieval.</a:t>
            </a:r>
          </a:p>
        </p:txBody>
      </p:sp>
      <p:sp>
        <p:nvSpPr>
          <p:cNvPr id="5" name="">
            <a:extLst xmlns:a="http://schemas.openxmlformats.org/drawingml/2006/main">
              <a:ext uri="{FF2B5EF4-FFF2-40B4-BE49-F238E27FC236}">
                <a16:creationId xmlns:a16="http://schemas.microsoft.com/office/drawing/2014/main" id="{E2910B5A-364C-430F-8449-261DB56D9654}"/>
              </a:ext>
            </a:extLst>
          </p:cNvPr>
          <p:cNvSpPr>
            <a:spLocks xmlns:a="http://schemas.openxmlformats.org/drawingml/2006/main" noGrp="1"/>
          </p:cNvSpPr>
          <p:nvPr/>
        </p:nvSpPr>
        <p:spPr>
          <a:xfrm xmlns:a="http://schemas.openxmlformats.org/drawingml/2006/main">
            <a:off x="609600" y="27241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49F39A"/>
                </a:solidFill>
                <a:latin typeface="DejaVu Sans"/>
                <a:ea typeface="DejaVu Sans"/>
                <a:cs typeface="DejaVu Sans"/>
              </a:defRPr>
            </a:pPr>
            <a:r>
              <a:rPr sz="2325" b="1">
                <a:solidFill>
                  <a:srgbClr val="49F39A"/>
                </a:solidFill>
                <a:latin typeface="DejaVu Sans"/>
                <a:ea typeface="DejaVu Sans"/>
                <a:cs typeface="DejaVu Sans"/>
              </a:rPr>
              <a:t>1</a:t>
            </a:r>
          </a:p>
        </p:txBody>
      </p:sp>
      <p:sp>
        <p:nvSpPr>
          <p:cNvPr id="6" name="">
            <a:extLst xmlns:a="http://schemas.openxmlformats.org/drawingml/2006/main">
              <a:ext uri="{FF2B5EF4-FFF2-40B4-BE49-F238E27FC236}">
                <a16:creationId xmlns:a16="http://schemas.microsoft.com/office/drawing/2014/main" id="{4B89364A-A7E7-4002-8A6C-865E8F057ED7}"/>
              </a:ext>
            </a:extLst>
          </p:cNvPr>
          <p:cNvSpPr>
            <a:spLocks xmlns:a="http://schemas.openxmlformats.org/drawingml/2006/main" noGrp="1"/>
          </p:cNvSpPr>
          <p:nvPr/>
        </p:nvSpPr>
        <p:spPr>
          <a:xfrm xmlns:a="http://schemas.openxmlformats.org/drawingml/2006/main">
            <a:off x="1104900" y="27813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INGEST</a:t>
            </a:r>
          </a:p>
        </p:txBody>
      </p:sp>
      <p:sp>
        <p:nvSpPr>
          <p:cNvPr id="7" name="">
            <a:extLst xmlns:a="http://schemas.openxmlformats.org/drawingml/2006/main">
              <a:ext uri="{FF2B5EF4-FFF2-40B4-BE49-F238E27FC236}">
                <a16:creationId xmlns:a16="http://schemas.microsoft.com/office/drawing/2014/main" id="{80FC0D06-65FC-47A9-8EB0-4168FB035471}"/>
              </a:ext>
            </a:extLst>
          </p:cNvPr>
          <p:cNvSpPr>
            <a:spLocks xmlns:a="http://schemas.openxmlformats.org/drawingml/2006/main" noGrp="1"/>
          </p:cNvSpPr>
          <p:nvPr/>
        </p:nvSpPr>
        <p:spPr>
          <a:xfrm xmlns:a="http://schemas.openxmlformats.org/drawingml/2006/main">
            <a:off x="609600" y="3276600"/>
            <a:ext cx="2400300" cy="1695450"/>
          </a:xfrm>
          <a:prstGeom xmlns:a="http://schemas.openxmlformats.org/drawingml/2006/main" prst="roundRect">
            <a:avLst>
              <a:gd name="adj" fmla="val 11236"/>
            </a:avLst>
          </a:prstGeom>
          <a:solidFill xmlns:a="http://schemas.openxmlformats.org/drawingml/2006/main">
            <a:srgbClr val="0B1612"/>
          </a:solidFill>
          <a:ln xmlns:a="http://schemas.openxmlformats.org/drawingml/2006/main" w="9525">
            <a:solidFill>
              <a:srgbClr val="234338"/>
            </a:solidFill>
          </a:ln>
        </p:spPr>
      </p:sp>
      <p:sp>
        <p:nvSpPr>
          <p:cNvPr id="8" name="">
            <a:extLst xmlns:a="http://schemas.openxmlformats.org/drawingml/2006/main">
              <a:ext uri="{FF2B5EF4-FFF2-40B4-BE49-F238E27FC236}">
                <a16:creationId xmlns:a16="http://schemas.microsoft.com/office/drawing/2014/main" id="{76C3A888-EE8A-4D14-9186-BF79EAF521B2}"/>
              </a:ext>
            </a:extLst>
          </p:cNvPr>
          <p:cNvSpPr>
            <a:spLocks xmlns:a="http://schemas.openxmlformats.org/drawingml/2006/main" noGrp="1"/>
          </p:cNvSpPr>
          <p:nvPr/>
        </p:nvSpPr>
        <p:spPr>
          <a:xfrm xmlns:a="http://schemas.openxmlformats.org/drawingml/2006/main">
            <a:off x="819150" y="3581400"/>
            <a:ext cx="1981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EFBF5"/>
                </a:solidFill>
                <a:latin typeface="DejaVu Sans"/>
                <a:ea typeface="DejaVu Sans"/>
                <a:cs typeface="DejaVu Sans"/>
              </a:defRPr>
            </a:pPr>
            <a:r>
              <a:rPr sz="1500" b="0">
                <a:solidFill>
                  <a:srgbClr val="EEFBF5"/>
                </a:solidFill>
                <a:latin typeface="DejaVu Sans"/>
                <a:ea typeface="DejaVu Sans"/>
                <a:cs typeface="DejaVu Sans"/>
              </a:rPr>
              <a:t>Documents enter a curated collection.</a:t>
            </a:r>
          </a:p>
        </p:txBody>
      </p:sp>
      <p:sp>
        <p:nvSpPr>
          <p:cNvPr id="9" name="">
            <a:extLst xmlns:a="http://schemas.openxmlformats.org/drawingml/2006/main">
              <a:ext uri="{FF2B5EF4-FFF2-40B4-BE49-F238E27FC236}">
                <a16:creationId xmlns:a16="http://schemas.microsoft.com/office/drawing/2014/main" id="{BB27E65A-2970-4E1C-BF7B-F6DA17462A24}"/>
              </a:ext>
            </a:extLst>
          </p:cNvPr>
          <p:cNvSpPr>
            <a:spLocks xmlns:a="http://schemas.openxmlformats.org/drawingml/2006/main" noGrp="1"/>
          </p:cNvSpPr>
          <p:nvPr/>
        </p:nvSpPr>
        <p:spPr>
          <a:xfrm xmlns:a="http://schemas.openxmlformats.org/drawingml/2006/main">
            <a:off x="3352800" y="27241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49F39A"/>
                </a:solidFill>
                <a:latin typeface="DejaVu Sans"/>
                <a:ea typeface="DejaVu Sans"/>
                <a:cs typeface="DejaVu Sans"/>
              </a:defRPr>
            </a:pPr>
            <a:r>
              <a:rPr sz="2325" b="1">
                <a:solidFill>
                  <a:srgbClr val="49F39A"/>
                </a:solidFill>
                <a:latin typeface="DejaVu Sans"/>
                <a:ea typeface="DejaVu Sans"/>
                <a:cs typeface="DejaVu Sans"/>
              </a:rPr>
              <a:t>2</a:t>
            </a:r>
          </a:p>
        </p:txBody>
      </p:sp>
      <p:sp>
        <p:nvSpPr>
          <p:cNvPr id="10" name="">
            <a:extLst xmlns:a="http://schemas.openxmlformats.org/drawingml/2006/main">
              <a:ext uri="{FF2B5EF4-FFF2-40B4-BE49-F238E27FC236}">
                <a16:creationId xmlns:a16="http://schemas.microsoft.com/office/drawing/2014/main" id="{26B02CF0-C4D3-489A-941B-AB4A834DCE00}"/>
              </a:ext>
            </a:extLst>
          </p:cNvPr>
          <p:cNvSpPr>
            <a:spLocks xmlns:a="http://schemas.openxmlformats.org/drawingml/2006/main" noGrp="1"/>
          </p:cNvSpPr>
          <p:nvPr/>
        </p:nvSpPr>
        <p:spPr>
          <a:xfrm xmlns:a="http://schemas.openxmlformats.org/drawingml/2006/main">
            <a:off x="3848100" y="27813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INDEX</a:t>
            </a:r>
          </a:p>
        </p:txBody>
      </p:sp>
      <p:sp>
        <p:nvSpPr>
          <p:cNvPr id="11" name="">
            <a:extLst xmlns:a="http://schemas.openxmlformats.org/drawingml/2006/main">
              <a:ext uri="{FF2B5EF4-FFF2-40B4-BE49-F238E27FC236}">
                <a16:creationId xmlns:a16="http://schemas.microsoft.com/office/drawing/2014/main" id="{9954B526-BA14-46F5-8444-06E0E42F8CFD}"/>
              </a:ext>
            </a:extLst>
          </p:cNvPr>
          <p:cNvSpPr>
            <a:spLocks xmlns:a="http://schemas.openxmlformats.org/drawingml/2006/main" noGrp="1"/>
          </p:cNvSpPr>
          <p:nvPr/>
        </p:nvSpPr>
        <p:spPr>
          <a:xfrm xmlns:a="http://schemas.openxmlformats.org/drawingml/2006/main">
            <a:off x="3352800" y="3276600"/>
            <a:ext cx="2400300" cy="1695450"/>
          </a:xfrm>
          <a:prstGeom xmlns:a="http://schemas.openxmlformats.org/drawingml/2006/main" prst="roundRect">
            <a:avLst>
              <a:gd name="adj" fmla="val 11236"/>
            </a:avLst>
          </a:prstGeom>
          <a:solidFill xmlns:a="http://schemas.openxmlformats.org/drawingml/2006/main">
            <a:srgbClr val="10221B"/>
          </a:solidFill>
          <a:ln xmlns:a="http://schemas.openxmlformats.org/drawingml/2006/main" w="9525">
            <a:solidFill>
              <a:srgbClr val="234338"/>
            </a:solidFill>
          </a:ln>
        </p:spPr>
      </p:sp>
      <p:sp>
        <p:nvSpPr>
          <p:cNvPr id="12" name="">
            <a:extLst xmlns:a="http://schemas.openxmlformats.org/drawingml/2006/main">
              <a:ext uri="{FF2B5EF4-FFF2-40B4-BE49-F238E27FC236}">
                <a16:creationId xmlns:a16="http://schemas.microsoft.com/office/drawing/2014/main" id="{CEC1DB12-DE42-4887-BB17-6EBB9660CF47}"/>
              </a:ext>
            </a:extLst>
          </p:cNvPr>
          <p:cNvSpPr>
            <a:spLocks xmlns:a="http://schemas.openxmlformats.org/drawingml/2006/main" noGrp="1"/>
          </p:cNvSpPr>
          <p:nvPr/>
        </p:nvSpPr>
        <p:spPr>
          <a:xfrm xmlns:a="http://schemas.openxmlformats.org/drawingml/2006/main">
            <a:off x="3562350" y="3581400"/>
            <a:ext cx="1981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EFBF5"/>
                </a:solidFill>
                <a:latin typeface="DejaVu Sans"/>
                <a:ea typeface="DejaVu Sans"/>
                <a:cs typeface="DejaVu Sans"/>
              </a:defRPr>
            </a:pPr>
            <a:r>
              <a:rPr sz="1500" b="0">
                <a:solidFill>
                  <a:srgbClr val="EEFBF5"/>
                </a:solidFill>
                <a:latin typeface="DejaVu Sans"/>
                <a:ea typeface="DejaVu Sans"/>
                <a:cs typeface="DejaVu Sans"/>
              </a:rPr>
              <a:t>Text is segmented and encoded with local embeddings.</a:t>
            </a:r>
          </a:p>
        </p:txBody>
      </p:sp>
      <p:sp>
        <p:nvSpPr>
          <p:cNvPr id="13" name="">
            <a:extLst xmlns:a="http://schemas.openxmlformats.org/drawingml/2006/main">
              <a:ext uri="{FF2B5EF4-FFF2-40B4-BE49-F238E27FC236}">
                <a16:creationId xmlns:a16="http://schemas.microsoft.com/office/drawing/2014/main" id="{0530553F-BFB1-4BA0-903B-6102B2EA9A1C}"/>
              </a:ext>
            </a:extLst>
          </p:cNvPr>
          <p:cNvSpPr>
            <a:spLocks xmlns:a="http://schemas.openxmlformats.org/drawingml/2006/main" noGrp="1"/>
          </p:cNvSpPr>
          <p:nvPr/>
        </p:nvSpPr>
        <p:spPr>
          <a:xfrm xmlns:a="http://schemas.openxmlformats.org/drawingml/2006/main">
            <a:off x="6096000" y="27241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49F39A"/>
                </a:solidFill>
                <a:latin typeface="DejaVu Sans"/>
                <a:ea typeface="DejaVu Sans"/>
                <a:cs typeface="DejaVu Sans"/>
              </a:defRPr>
            </a:pPr>
            <a:r>
              <a:rPr sz="2325" b="1">
                <a:solidFill>
                  <a:srgbClr val="49F39A"/>
                </a:solidFill>
                <a:latin typeface="DejaVu Sans"/>
                <a:ea typeface="DejaVu Sans"/>
                <a:cs typeface="DejaVu Sans"/>
              </a:rPr>
              <a:t>3</a:t>
            </a:r>
          </a:p>
        </p:txBody>
      </p:sp>
      <p:sp>
        <p:nvSpPr>
          <p:cNvPr id="14" name="">
            <a:extLst xmlns:a="http://schemas.openxmlformats.org/drawingml/2006/main">
              <a:ext uri="{FF2B5EF4-FFF2-40B4-BE49-F238E27FC236}">
                <a16:creationId xmlns:a16="http://schemas.microsoft.com/office/drawing/2014/main" id="{9FBF2FC7-098D-41EA-B8EB-C9ECE0D079A4}"/>
              </a:ext>
            </a:extLst>
          </p:cNvPr>
          <p:cNvSpPr>
            <a:spLocks xmlns:a="http://schemas.openxmlformats.org/drawingml/2006/main" noGrp="1"/>
          </p:cNvSpPr>
          <p:nvPr/>
        </p:nvSpPr>
        <p:spPr>
          <a:xfrm xmlns:a="http://schemas.openxmlformats.org/drawingml/2006/main">
            <a:off x="6591300" y="27813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RETRIEVE</a:t>
            </a:r>
          </a:p>
        </p:txBody>
      </p:sp>
      <p:sp>
        <p:nvSpPr>
          <p:cNvPr id="15" name="">
            <a:extLst xmlns:a="http://schemas.openxmlformats.org/drawingml/2006/main">
              <a:ext uri="{FF2B5EF4-FFF2-40B4-BE49-F238E27FC236}">
                <a16:creationId xmlns:a16="http://schemas.microsoft.com/office/drawing/2014/main" id="{4AB7B130-F526-40F4-8C4A-92184288D003}"/>
              </a:ext>
            </a:extLst>
          </p:cNvPr>
          <p:cNvSpPr>
            <a:spLocks xmlns:a="http://schemas.openxmlformats.org/drawingml/2006/main" noGrp="1"/>
          </p:cNvSpPr>
          <p:nvPr/>
        </p:nvSpPr>
        <p:spPr>
          <a:xfrm xmlns:a="http://schemas.openxmlformats.org/drawingml/2006/main">
            <a:off x="6096000" y="3276600"/>
            <a:ext cx="2400300" cy="1695450"/>
          </a:xfrm>
          <a:prstGeom xmlns:a="http://schemas.openxmlformats.org/drawingml/2006/main" prst="roundRect">
            <a:avLst>
              <a:gd name="adj" fmla="val 11236"/>
            </a:avLst>
          </a:prstGeom>
          <a:solidFill xmlns:a="http://schemas.openxmlformats.org/drawingml/2006/main">
            <a:srgbClr val="10221B"/>
          </a:solidFill>
          <a:ln xmlns:a="http://schemas.openxmlformats.org/drawingml/2006/main" w="9525">
            <a:solidFill>
              <a:srgbClr val="234338"/>
            </a:solidFill>
          </a:ln>
        </p:spPr>
      </p:sp>
      <p:sp>
        <p:nvSpPr>
          <p:cNvPr id="16" name="">
            <a:extLst xmlns:a="http://schemas.openxmlformats.org/drawingml/2006/main">
              <a:ext uri="{FF2B5EF4-FFF2-40B4-BE49-F238E27FC236}">
                <a16:creationId xmlns:a16="http://schemas.microsoft.com/office/drawing/2014/main" id="{F5246B0D-A32D-4516-B614-64182A9E3240}"/>
              </a:ext>
            </a:extLst>
          </p:cNvPr>
          <p:cNvSpPr>
            <a:spLocks xmlns:a="http://schemas.openxmlformats.org/drawingml/2006/main" noGrp="1"/>
          </p:cNvSpPr>
          <p:nvPr/>
        </p:nvSpPr>
        <p:spPr>
          <a:xfrm xmlns:a="http://schemas.openxmlformats.org/drawingml/2006/main">
            <a:off x="6305550" y="3581400"/>
            <a:ext cx="1981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EFBF5"/>
                </a:solidFill>
                <a:latin typeface="DejaVu Sans"/>
                <a:ea typeface="DejaVu Sans"/>
                <a:cs typeface="DejaVu Sans"/>
              </a:defRPr>
            </a:pPr>
            <a:r>
              <a:rPr sz="1500" b="0">
                <a:solidFill>
                  <a:srgbClr val="EEFBF5"/>
                </a:solidFill>
                <a:latin typeface="DejaVu Sans"/>
                <a:ea typeface="DejaVu Sans"/>
                <a:cs typeface="DejaVu Sans"/>
              </a:rPr>
              <a:t>Relevant passages are selected for each question.</a:t>
            </a:r>
          </a:p>
        </p:txBody>
      </p:sp>
      <p:sp>
        <p:nvSpPr>
          <p:cNvPr id="17" name="">
            <a:extLst xmlns:a="http://schemas.openxmlformats.org/drawingml/2006/main">
              <a:ext uri="{FF2B5EF4-FFF2-40B4-BE49-F238E27FC236}">
                <a16:creationId xmlns:a16="http://schemas.microsoft.com/office/drawing/2014/main" id="{911DA81E-9A17-43C0-898D-A3FB6ECFA8AD}"/>
              </a:ext>
            </a:extLst>
          </p:cNvPr>
          <p:cNvSpPr>
            <a:spLocks xmlns:a="http://schemas.openxmlformats.org/drawingml/2006/main" noGrp="1"/>
          </p:cNvSpPr>
          <p:nvPr/>
        </p:nvSpPr>
        <p:spPr>
          <a:xfrm xmlns:a="http://schemas.openxmlformats.org/drawingml/2006/main">
            <a:off x="8839200" y="27241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49F39A"/>
                </a:solidFill>
                <a:latin typeface="DejaVu Sans"/>
                <a:ea typeface="DejaVu Sans"/>
                <a:cs typeface="DejaVu Sans"/>
              </a:defRPr>
            </a:pPr>
            <a:r>
              <a:rPr sz="2325" b="1">
                <a:solidFill>
                  <a:srgbClr val="49F39A"/>
                </a:solidFill>
                <a:latin typeface="DejaVu Sans"/>
                <a:ea typeface="DejaVu Sans"/>
                <a:cs typeface="DejaVu Sans"/>
              </a:rPr>
              <a:t>4</a:t>
            </a:r>
          </a:p>
        </p:txBody>
      </p:sp>
      <p:sp>
        <p:nvSpPr>
          <p:cNvPr id="18" name="">
            <a:extLst xmlns:a="http://schemas.openxmlformats.org/drawingml/2006/main">
              <a:ext uri="{FF2B5EF4-FFF2-40B4-BE49-F238E27FC236}">
                <a16:creationId xmlns:a16="http://schemas.microsoft.com/office/drawing/2014/main" id="{E8A43673-0447-4039-9612-930E197CBDA8}"/>
              </a:ext>
            </a:extLst>
          </p:cNvPr>
          <p:cNvSpPr>
            <a:spLocks xmlns:a="http://schemas.openxmlformats.org/drawingml/2006/main" noGrp="1"/>
          </p:cNvSpPr>
          <p:nvPr/>
        </p:nvSpPr>
        <p:spPr>
          <a:xfrm xmlns:a="http://schemas.openxmlformats.org/drawingml/2006/main">
            <a:off x="9334500" y="27813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ANSWER</a:t>
            </a:r>
          </a:p>
        </p:txBody>
      </p:sp>
      <p:sp>
        <p:nvSpPr>
          <p:cNvPr id="19" name="">
            <a:extLst xmlns:a="http://schemas.openxmlformats.org/drawingml/2006/main">
              <a:ext uri="{FF2B5EF4-FFF2-40B4-BE49-F238E27FC236}">
                <a16:creationId xmlns:a16="http://schemas.microsoft.com/office/drawing/2014/main" id="{786074F0-958B-4A8D-8F7A-E1E4FEDBE6A5}"/>
              </a:ext>
            </a:extLst>
          </p:cNvPr>
          <p:cNvSpPr>
            <a:spLocks xmlns:a="http://schemas.openxmlformats.org/drawingml/2006/main" noGrp="1"/>
          </p:cNvSpPr>
          <p:nvPr/>
        </p:nvSpPr>
        <p:spPr>
          <a:xfrm xmlns:a="http://schemas.openxmlformats.org/drawingml/2006/main">
            <a:off x="8839200" y="3276600"/>
            <a:ext cx="2400300" cy="1695450"/>
          </a:xfrm>
          <a:prstGeom xmlns:a="http://schemas.openxmlformats.org/drawingml/2006/main" prst="roundRect">
            <a:avLst>
              <a:gd name="adj" fmla="val 11236"/>
            </a:avLst>
          </a:prstGeom>
          <a:solidFill xmlns:a="http://schemas.openxmlformats.org/drawingml/2006/main">
            <a:srgbClr val="0B1612"/>
          </a:solidFill>
          <a:ln xmlns:a="http://schemas.openxmlformats.org/drawingml/2006/main" w="9525">
            <a:solidFill>
              <a:srgbClr val="234338"/>
            </a:solidFill>
          </a:ln>
        </p:spPr>
      </p:sp>
      <p:sp>
        <p:nvSpPr>
          <p:cNvPr id="20" name="">
            <a:extLst xmlns:a="http://schemas.openxmlformats.org/drawingml/2006/main">
              <a:ext uri="{FF2B5EF4-FFF2-40B4-BE49-F238E27FC236}">
                <a16:creationId xmlns:a16="http://schemas.microsoft.com/office/drawing/2014/main" id="{E965851B-F39B-4737-BB2F-64DB18CF50B1}"/>
              </a:ext>
            </a:extLst>
          </p:cNvPr>
          <p:cNvSpPr>
            <a:spLocks xmlns:a="http://schemas.openxmlformats.org/drawingml/2006/main" noGrp="1"/>
          </p:cNvSpPr>
          <p:nvPr/>
        </p:nvSpPr>
        <p:spPr>
          <a:xfrm xmlns:a="http://schemas.openxmlformats.org/drawingml/2006/main">
            <a:off x="9048750" y="3581400"/>
            <a:ext cx="1981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EFBF5"/>
                </a:solidFill>
                <a:latin typeface="DejaVu Sans"/>
                <a:ea typeface="DejaVu Sans"/>
                <a:cs typeface="DejaVu Sans"/>
              </a:defRPr>
            </a:pPr>
            <a:r>
              <a:rPr sz="1500" b="0">
                <a:solidFill>
                  <a:srgbClr val="EEFBF5"/>
                </a:solidFill>
                <a:latin typeface="DejaVu Sans"/>
                <a:ea typeface="DejaVu Sans"/>
                <a:cs typeface="DejaVu Sans"/>
              </a:rPr>
              <a:t>Maia Chat uses the retrieved context in its response.</a:t>
            </a:r>
          </a:p>
        </p:txBody>
      </p:sp>
      <p:sp>
        <p:nvSpPr>
          <p:cNvPr id="21" name="">
            <a:extLst xmlns:a="http://schemas.openxmlformats.org/drawingml/2006/main">
              <a:ext uri="{FF2B5EF4-FFF2-40B4-BE49-F238E27FC236}">
                <a16:creationId xmlns:a16="http://schemas.microsoft.com/office/drawing/2014/main" id="{19252621-92E0-472B-ABB3-EDFC3B942DE2}"/>
              </a:ext>
            </a:extLst>
          </p:cNvPr>
          <p:cNvSpPr>
            <a:spLocks xmlns:a="http://schemas.openxmlformats.org/drawingml/2006/main" noGrp="1"/>
          </p:cNvSpPr>
          <p:nvPr/>
        </p:nvSpPr>
        <p:spPr>
          <a:xfrm xmlns:a="http://schemas.openxmlformats.org/drawingml/2006/main">
            <a:off x="609600" y="55054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49F39A"/>
                </a:solidFill>
                <a:latin typeface="DejaVu Sans"/>
                <a:ea typeface="DejaVu Sans"/>
                <a:cs typeface="DejaVu Sans"/>
              </a:defRPr>
            </a:pPr>
            <a:r>
              <a:rPr sz="1425" b="1">
                <a:solidFill>
                  <a:srgbClr val="49F39A"/>
                </a:solidFill>
                <a:latin typeface="DejaVu Sans"/>
                <a:ea typeface="DejaVu Sans"/>
                <a:cs typeface="DejaVu Sans"/>
              </a:rPr>
              <a:t>Current status</a:t>
            </a:r>
          </a:p>
        </p:txBody>
      </p:sp>
      <p:sp>
        <p:nvSpPr>
          <p:cNvPr id="22" name="">
            <a:extLst xmlns:a="http://schemas.openxmlformats.org/drawingml/2006/main">
              <a:ext uri="{FF2B5EF4-FFF2-40B4-BE49-F238E27FC236}">
                <a16:creationId xmlns:a16="http://schemas.microsoft.com/office/drawing/2014/main" id="{F8DC5B5F-DA6C-4B43-A3BF-8D143921636E}"/>
              </a:ext>
            </a:extLst>
          </p:cNvPr>
          <p:cNvSpPr>
            <a:spLocks xmlns:a="http://schemas.openxmlformats.org/drawingml/2006/main" noGrp="1"/>
          </p:cNvSpPr>
          <p:nvPr/>
        </p:nvSpPr>
        <p:spPr>
          <a:xfrm xmlns:a="http://schemas.openxmlformats.org/drawingml/2006/main">
            <a:off x="2247900" y="5505450"/>
            <a:ext cx="857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9AB7AA"/>
                </a:solidFill>
                <a:latin typeface="DejaVu Sans"/>
                <a:ea typeface="DejaVu Sans"/>
                <a:cs typeface="DejaVu Sans"/>
              </a:defRPr>
            </a:pPr>
            <a:r>
              <a:rPr sz="1500" b="0">
                <a:solidFill>
                  <a:srgbClr val="9AB7AA"/>
                </a:solidFill>
                <a:latin typeface="DejaVu Sans"/>
                <a:ea typeface="DejaVu Sans"/>
                <a:cs typeface="DejaVu Sans"/>
              </a:rPr>
              <a:t>Online curator access with repository available for inspection and deployment.</a:t>
            </a:r>
          </a:p>
        </p:txBody>
      </p:sp>
      <p:sp>
        <p:nvSpPr>
          <p:cNvPr id="23" name="">
            <a:extLst xmlns:a="http://schemas.openxmlformats.org/drawingml/2006/main">
              <a:ext uri="{FF2B5EF4-FFF2-40B4-BE49-F238E27FC236}">
                <a16:creationId xmlns:a16="http://schemas.microsoft.com/office/drawing/2014/main" id="{01F58DA9-0961-4DED-A135-B4E041819F72}"/>
              </a:ext>
            </a:extLst>
          </p:cNvPr>
          <p:cNvSpPr>
            <a:spLocks xmlns:a="http://schemas.openxmlformats.org/drawingml/2006/main" noGrp="1"/>
          </p:cNvSpPr>
          <p:nvPr/>
        </p:nvSpPr>
        <p:spPr>
          <a:xfrm xmlns:a="http://schemas.openxmlformats.org/drawingml/2006/main">
            <a:off x="111061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9AB7AA"/>
                </a:solidFill>
                <a:latin typeface="DejaVu Sans"/>
                <a:ea typeface="DejaVu Sans"/>
                <a:cs typeface="DejaVu Sans"/>
              </a:defRPr>
            </a:pPr>
            <a:r>
              <a:rPr sz="975" b="0">
                <a:solidFill>
                  <a:srgbClr val="9AB7AA"/>
                </a:solidFill>
                <a:latin typeface="DejaVu Sans"/>
                <a:ea typeface="DejaVu Sans"/>
                <a:cs typeface="DejaVu Sans"/>
              </a:rPr>
              <a:t>05</a:t>
            </a:r>
          </a:p>
        </p:txBody>
      </p:sp>
    </p:spTree>
    <p:extLst>
      <p:ext uri="{BB962C8B-B14F-4D97-AF65-F5344CB8AC3E}">
        <p14:creationId xmlns:p14="http://schemas.microsoft.com/office/powerpoint/2010/main" val="422319177"/>
      </p:ext>
    </p:extLst>
  </p:cSld>
</p:sld>
</file>

<file path=ppt/slides/slide6.xml><?xml version="1.0" encoding="utf-8"?>
<p:sld xmlns:p="http://schemas.openxmlformats.org/presentationml/2006/main">
  <p:cSld>
    <p:bg>
      <p:bgPr>
        <a:solidFill xmlns:a="http://schemas.openxmlformats.org/drawingml/2006/main">
          <a:srgbClr val="050B0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BB808A9-069A-4164-9EB3-94A2E10435C0}"/>
              </a:ext>
            </a:extLst>
          </p:cNvPr>
          <p:cNvSpPr>
            <a:spLocks xmlns:a="http://schemas.openxmlformats.org/drawingml/2006/main" noGrp="1"/>
          </p:cNvSpPr>
          <p:nvPr/>
        </p:nvSpPr>
        <p:spPr>
          <a:xfrm xmlns:a="http://schemas.openxmlformats.org/drawingml/2006/main">
            <a:off x="609600" y="3619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DEFENSIBILITY</a:t>
            </a:r>
          </a:p>
        </p:txBody>
      </p:sp>
      <p:sp>
        <p:nvSpPr>
          <p:cNvPr id="2" name="">
            <a:extLst xmlns:a="http://schemas.openxmlformats.org/drawingml/2006/main">
              <a:ext uri="{FF2B5EF4-FFF2-40B4-BE49-F238E27FC236}">
                <a16:creationId xmlns:a16="http://schemas.microsoft.com/office/drawing/2014/main" id="{F5BDAFAC-CD65-4918-A0DE-FCAC76A5643B}"/>
              </a:ext>
            </a:extLst>
          </p:cNvPr>
          <p:cNvSpPr>
            <a:spLocks xmlns:a="http://schemas.openxmlformats.org/drawingml/2006/main" noGrp="1"/>
          </p:cNvSpPr>
          <p:nvPr/>
        </p:nvSpPr>
        <p:spPr>
          <a:xfrm xmlns:a="http://schemas.openxmlformats.org/drawingml/2006/main">
            <a:off x="609600" y="68580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EFBF5"/>
                </a:solidFill>
                <a:latin typeface="DejaVu Sans"/>
                <a:ea typeface="DejaVu Sans"/>
                <a:cs typeface="DejaVu Sans"/>
              </a:defRPr>
            </a:pPr>
            <a:r>
              <a:rPr sz="2700" b="1">
                <a:solidFill>
                  <a:srgbClr val="EEFBF5"/>
                </a:solidFill>
                <a:latin typeface="DejaVu Sans"/>
                <a:ea typeface="DejaVu Sans"/>
                <a:cs typeface="DejaVu Sans"/>
              </a:rPr>
              <a:t>The products sit on a broader technical foundation</a:t>
            </a:r>
          </a:p>
        </p:txBody>
      </p:sp>
      <p:sp>
        <p:nvSpPr>
          <p:cNvPr id="3" name="">
            <a:extLst xmlns:a="http://schemas.openxmlformats.org/drawingml/2006/main">
              <a:ext uri="{FF2B5EF4-FFF2-40B4-BE49-F238E27FC236}">
                <a16:creationId xmlns:a16="http://schemas.microsoft.com/office/drawing/2014/main" id="{09426871-006E-476C-A49D-100EA23DC923}"/>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4C998E-F447-4AC1-B2B9-BA5FB224472C}"/>
              </a:ext>
            </a:extLst>
          </p:cNvPr>
          <p:cNvSpPr>
            <a:spLocks xmlns:a="http://schemas.openxmlformats.org/drawingml/2006/main" noGrp="1"/>
          </p:cNvSpPr>
          <p:nvPr/>
        </p:nvSpPr>
        <p:spPr>
          <a:xfrm xmlns:a="http://schemas.openxmlformats.org/drawingml/2006/main">
            <a:off x="609600" y="16764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EFBF5"/>
                </a:solidFill>
                <a:latin typeface="DejaVu Sans"/>
                <a:ea typeface="DejaVu Sans"/>
                <a:cs typeface="DejaVu Sans"/>
              </a:defRPr>
            </a:pPr>
            <a:r>
              <a:rPr sz="2025" b="1">
                <a:solidFill>
                  <a:srgbClr val="EEFBF5"/>
                </a:solidFill>
                <a:latin typeface="DejaVu Sans"/>
                <a:ea typeface="DejaVu Sans"/>
                <a:cs typeface="DejaVu Sans"/>
              </a:rPr>
              <a:t>Maia Platform combines infrastructure, language tooling, data components and applied research developed over more than two decades.</a:t>
            </a:r>
          </a:p>
        </p:txBody>
      </p:sp>
      <p:sp>
        <p:nvSpPr>
          <p:cNvPr id="5" name="">
            <a:extLst xmlns:a="http://schemas.openxmlformats.org/drawingml/2006/main">
              <a:ext uri="{FF2B5EF4-FFF2-40B4-BE49-F238E27FC236}">
                <a16:creationId xmlns:a16="http://schemas.microsoft.com/office/drawing/2014/main" id="{0713561E-D6B8-4B1C-93AA-9F774063320B}"/>
              </a:ext>
            </a:extLst>
          </p:cNvPr>
          <p:cNvSpPr>
            <a:spLocks xmlns:a="http://schemas.openxmlformats.org/drawingml/2006/main" noGrp="1"/>
          </p:cNvSpPr>
          <p:nvPr/>
        </p:nvSpPr>
        <p:spPr>
          <a:xfrm xmlns:a="http://schemas.openxmlformats.org/drawingml/2006/main">
            <a:off x="609600" y="27527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DEPLOYMENT</a:t>
            </a:r>
          </a:p>
        </p:txBody>
      </p:sp>
      <p:sp>
        <p:nvSpPr>
          <p:cNvPr id="6" name="">
            <a:extLst xmlns:a="http://schemas.openxmlformats.org/drawingml/2006/main">
              <a:ext uri="{FF2B5EF4-FFF2-40B4-BE49-F238E27FC236}">
                <a16:creationId xmlns:a16="http://schemas.microsoft.com/office/drawing/2014/main" id="{7EFEE23A-69EB-4E63-8A1D-D8A8E487B37C}"/>
              </a:ext>
            </a:extLst>
          </p:cNvPr>
          <p:cNvSpPr>
            <a:spLocks xmlns:a="http://schemas.openxmlformats.org/drawingml/2006/main" noGrp="1"/>
          </p:cNvSpPr>
          <p:nvPr/>
        </p:nvSpPr>
        <p:spPr>
          <a:xfrm xmlns:a="http://schemas.openxmlformats.org/drawingml/2006/main">
            <a:off x="2152650" y="2724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EFBF5"/>
                </a:solidFill>
                <a:latin typeface="DejaVu Sans"/>
                <a:ea typeface="DejaVu Sans"/>
                <a:cs typeface="DejaVu Sans"/>
              </a:defRPr>
            </a:pPr>
            <a:r>
              <a:rPr sz="1650" b="1">
                <a:solidFill>
                  <a:srgbClr val="EEFBF5"/>
                </a:solidFill>
                <a:latin typeface="DejaVu Sans"/>
                <a:ea typeface="DejaVu Sans"/>
                <a:cs typeface="DejaVu Sans"/>
              </a:rPr>
              <a:t>Maia Edge</a:t>
            </a:r>
          </a:p>
        </p:txBody>
      </p:sp>
      <p:sp>
        <p:nvSpPr>
          <p:cNvPr id="7" name="">
            <a:extLst xmlns:a="http://schemas.openxmlformats.org/drawingml/2006/main">
              <a:ext uri="{FF2B5EF4-FFF2-40B4-BE49-F238E27FC236}">
                <a16:creationId xmlns:a16="http://schemas.microsoft.com/office/drawing/2014/main" id="{64413166-CAFF-4591-B785-DA5A48EDADD7}"/>
              </a:ext>
            </a:extLst>
          </p:cNvPr>
          <p:cNvSpPr>
            <a:spLocks xmlns:a="http://schemas.openxmlformats.org/drawingml/2006/main" noGrp="1"/>
          </p:cNvSpPr>
          <p:nvPr/>
        </p:nvSpPr>
        <p:spPr>
          <a:xfrm xmlns:a="http://schemas.openxmlformats.org/drawingml/2006/main">
            <a:off x="5562600" y="2724150"/>
            <a:ext cx="573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B7AA"/>
                </a:solidFill>
                <a:latin typeface="DejaVu Sans"/>
                <a:ea typeface="DejaVu Sans"/>
                <a:cs typeface="DejaVu Sans"/>
              </a:defRPr>
            </a:pPr>
            <a:r>
              <a:rPr sz="1350" b="0">
                <a:solidFill>
                  <a:srgbClr val="9AB7AA"/>
                </a:solidFill>
                <a:latin typeface="DejaVu Sans"/>
                <a:ea typeface="DejaVu Sans"/>
                <a:cs typeface="DejaVu Sans"/>
              </a:rPr>
              <a:t>Hybrid cloud and secure self-hosting</a:t>
            </a:r>
          </a:p>
        </p:txBody>
      </p:sp>
      <p:sp>
        <p:nvSpPr>
          <p:cNvPr id="8" name="">
            <a:extLst xmlns:a="http://schemas.openxmlformats.org/drawingml/2006/main">
              <a:ext uri="{FF2B5EF4-FFF2-40B4-BE49-F238E27FC236}">
                <a16:creationId xmlns:a16="http://schemas.microsoft.com/office/drawing/2014/main" id="{77605B66-DF95-4B07-845C-D89D72FF0FA0}"/>
              </a:ext>
            </a:extLst>
          </p:cNvPr>
          <p:cNvSpPr>
            <a:spLocks xmlns:a="http://schemas.openxmlformats.org/drawingml/2006/main" noGrp="1"/>
          </p:cNvSpPr>
          <p:nvPr/>
        </p:nvSpPr>
        <p:spPr>
          <a:xfrm xmlns:a="http://schemas.openxmlformats.org/drawingml/2006/main">
            <a:off x="609600" y="3333750"/>
            <a:ext cx="10687050" cy="9525"/>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FF7C1FF-E631-439A-8E5F-1F0BE40F3DA3}"/>
              </a:ext>
            </a:extLst>
          </p:cNvPr>
          <p:cNvSpPr>
            <a:spLocks xmlns:a="http://schemas.openxmlformats.org/drawingml/2006/main" noGrp="1"/>
          </p:cNvSpPr>
          <p:nvPr/>
        </p:nvSpPr>
        <p:spPr>
          <a:xfrm xmlns:a="http://schemas.openxmlformats.org/drawingml/2006/main">
            <a:off x="609600" y="358140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LANGUAGES</a:t>
            </a:r>
          </a:p>
        </p:txBody>
      </p:sp>
      <p:sp>
        <p:nvSpPr>
          <p:cNvPr id="10" name="">
            <a:extLst xmlns:a="http://schemas.openxmlformats.org/drawingml/2006/main">
              <a:ext uri="{FF2B5EF4-FFF2-40B4-BE49-F238E27FC236}">
                <a16:creationId xmlns:a16="http://schemas.microsoft.com/office/drawing/2014/main" id="{F2D96118-EE41-41EF-B701-2379040022A9}"/>
              </a:ext>
            </a:extLst>
          </p:cNvPr>
          <p:cNvSpPr>
            <a:spLocks xmlns:a="http://schemas.openxmlformats.org/drawingml/2006/main" noGrp="1"/>
          </p:cNvSpPr>
          <p:nvPr/>
        </p:nvSpPr>
        <p:spPr>
          <a:xfrm xmlns:a="http://schemas.openxmlformats.org/drawingml/2006/main">
            <a:off x="2152650" y="35528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EFBF5"/>
                </a:solidFill>
                <a:latin typeface="DejaVu Sans"/>
                <a:ea typeface="DejaVu Sans"/>
                <a:cs typeface="DejaVu Sans"/>
              </a:defRPr>
            </a:pPr>
            <a:r>
              <a:rPr sz="1650" b="1">
                <a:solidFill>
                  <a:srgbClr val="EEFBF5"/>
                </a:solidFill>
                <a:latin typeface="DejaVu Sans"/>
                <a:ea typeface="DejaVu Sans"/>
                <a:cs typeface="DejaVu Sans"/>
              </a:rPr>
              <a:t>MaiaScript + MaiaCC</a:t>
            </a:r>
          </a:p>
        </p:txBody>
      </p:sp>
      <p:sp>
        <p:nvSpPr>
          <p:cNvPr id="11" name="">
            <a:extLst xmlns:a="http://schemas.openxmlformats.org/drawingml/2006/main">
              <a:ext uri="{FF2B5EF4-FFF2-40B4-BE49-F238E27FC236}">
                <a16:creationId xmlns:a16="http://schemas.microsoft.com/office/drawing/2014/main" id="{FAE282A5-9924-4B73-A9B9-A9EBF984008D}"/>
              </a:ext>
            </a:extLst>
          </p:cNvPr>
          <p:cNvSpPr>
            <a:spLocks xmlns:a="http://schemas.openxmlformats.org/drawingml/2006/main" noGrp="1"/>
          </p:cNvSpPr>
          <p:nvPr/>
        </p:nvSpPr>
        <p:spPr>
          <a:xfrm xmlns:a="http://schemas.openxmlformats.org/drawingml/2006/main">
            <a:off x="5562600" y="3552825"/>
            <a:ext cx="573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B7AA"/>
                </a:solidFill>
                <a:latin typeface="DejaVu Sans"/>
                <a:ea typeface="DejaVu Sans"/>
                <a:cs typeface="DejaVu Sans"/>
              </a:defRPr>
            </a:pPr>
            <a:r>
              <a:rPr sz="1350" b="0">
                <a:solidFill>
                  <a:srgbClr val="9AB7AA"/>
                </a:solidFill>
                <a:latin typeface="DejaVu Sans"/>
                <a:ea typeface="DejaVu Sans"/>
                <a:cs typeface="DejaVu Sans"/>
              </a:rPr>
              <a:t>Programming language, compiler and parser infrastructure</a:t>
            </a:r>
          </a:p>
        </p:txBody>
      </p:sp>
      <p:sp>
        <p:nvSpPr>
          <p:cNvPr id="12" name="">
            <a:extLst xmlns:a="http://schemas.openxmlformats.org/drawingml/2006/main">
              <a:ext uri="{FF2B5EF4-FFF2-40B4-BE49-F238E27FC236}">
                <a16:creationId xmlns:a16="http://schemas.microsoft.com/office/drawing/2014/main" id="{C0884579-9DA3-4A93-A965-B2CF13749A6C}"/>
              </a:ext>
            </a:extLst>
          </p:cNvPr>
          <p:cNvSpPr>
            <a:spLocks xmlns:a="http://schemas.openxmlformats.org/drawingml/2006/main" noGrp="1"/>
          </p:cNvSpPr>
          <p:nvPr/>
        </p:nvSpPr>
        <p:spPr>
          <a:xfrm xmlns:a="http://schemas.openxmlformats.org/drawingml/2006/main">
            <a:off x="609600" y="4162425"/>
            <a:ext cx="10687050" cy="9525"/>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960B54E-4538-4CFE-B119-6D709901E522}"/>
              </a:ext>
            </a:extLst>
          </p:cNvPr>
          <p:cNvSpPr>
            <a:spLocks xmlns:a="http://schemas.openxmlformats.org/drawingml/2006/main" noGrp="1"/>
          </p:cNvSpPr>
          <p:nvPr/>
        </p:nvSpPr>
        <p:spPr>
          <a:xfrm xmlns:a="http://schemas.openxmlformats.org/drawingml/2006/main">
            <a:off x="609600" y="441007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DATA</a:t>
            </a:r>
          </a:p>
        </p:txBody>
      </p:sp>
      <p:sp>
        <p:nvSpPr>
          <p:cNvPr id="14" name="">
            <a:extLst xmlns:a="http://schemas.openxmlformats.org/drawingml/2006/main">
              <a:ext uri="{FF2B5EF4-FFF2-40B4-BE49-F238E27FC236}">
                <a16:creationId xmlns:a16="http://schemas.microsoft.com/office/drawing/2014/main" id="{2A72949E-0657-40DE-87FF-F6072DAC06EF}"/>
              </a:ext>
            </a:extLst>
          </p:cNvPr>
          <p:cNvSpPr>
            <a:spLocks xmlns:a="http://schemas.openxmlformats.org/drawingml/2006/main" noGrp="1"/>
          </p:cNvSpPr>
          <p:nvPr/>
        </p:nvSpPr>
        <p:spPr>
          <a:xfrm xmlns:a="http://schemas.openxmlformats.org/drawingml/2006/main">
            <a:off x="2152650" y="43815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EFBF5"/>
                </a:solidFill>
                <a:latin typeface="DejaVu Sans"/>
                <a:ea typeface="DejaVu Sans"/>
                <a:cs typeface="DejaVu Sans"/>
              </a:defRPr>
            </a:pPr>
            <a:r>
              <a:rPr sz="1650" b="1">
                <a:solidFill>
                  <a:srgbClr val="EEFBF5"/>
                </a:solidFill>
                <a:latin typeface="DejaVu Sans"/>
                <a:ea typeface="DejaVu Sans"/>
                <a:cs typeface="DejaVu Sans"/>
              </a:rPr>
              <a:t>MaiaSQL</a:t>
            </a:r>
          </a:p>
        </p:txBody>
      </p:sp>
      <p:sp>
        <p:nvSpPr>
          <p:cNvPr id="15" name="">
            <a:extLst xmlns:a="http://schemas.openxmlformats.org/drawingml/2006/main">
              <a:ext uri="{FF2B5EF4-FFF2-40B4-BE49-F238E27FC236}">
                <a16:creationId xmlns:a16="http://schemas.microsoft.com/office/drawing/2014/main" id="{91CC8540-EEEA-4403-A421-CE1414D466CB}"/>
              </a:ext>
            </a:extLst>
          </p:cNvPr>
          <p:cNvSpPr>
            <a:spLocks xmlns:a="http://schemas.openxmlformats.org/drawingml/2006/main" noGrp="1"/>
          </p:cNvSpPr>
          <p:nvPr/>
        </p:nvSpPr>
        <p:spPr>
          <a:xfrm xmlns:a="http://schemas.openxmlformats.org/drawingml/2006/main">
            <a:off x="5562600" y="4381500"/>
            <a:ext cx="573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B7AA"/>
                </a:solidFill>
                <a:latin typeface="DejaVu Sans"/>
                <a:ea typeface="DejaVu Sans"/>
                <a:cs typeface="DejaVu Sans"/>
              </a:defRPr>
            </a:pPr>
            <a:r>
              <a:rPr sz="1350" b="0">
                <a:solidFill>
                  <a:srgbClr val="9AB7AA"/>
                </a:solidFill>
                <a:latin typeface="DejaVu Sans"/>
                <a:ea typeface="DejaVu Sans"/>
                <a:cs typeface="DejaVu Sans"/>
              </a:rPr>
              <a:t>Portable and browser-friendly database workflows</a:t>
            </a:r>
          </a:p>
        </p:txBody>
      </p:sp>
      <p:sp>
        <p:nvSpPr>
          <p:cNvPr id="16" name="">
            <a:extLst xmlns:a="http://schemas.openxmlformats.org/drawingml/2006/main">
              <a:ext uri="{FF2B5EF4-FFF2-40B4-BE49-F238E27FC236}">
                <a16:creationId xmlns:a16="http://schemas.microsoft.com/office/drawing/2014/main" id="{A3CA6C8F-5F39-4815-ACFC-51D788D792E9}"/>
              </a:ext>
            </a:extLst>
          </p:cNvPr>
          <p:cNvSpPr>
            <a:spLocks xmlns:a="http://schemas.openxmlformats.org/drawingml/2006/main" noGrp="1"/>
          </p:cNvSpPr>
          <p:nvPr/>
        </p:nvSpPr>
        <p:spPr>
          <a:xfrm xmlns:a="http://schemas.openxmlformats.org/drawingml/2006/main">
            <a:off x="609600" y="4991100"/>
            <a:ext cx="10687050" cy="9525"/>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D02F41-CF88-460C-B044-B4C2135F9AD2}"/>
              </a:ext>
            </a:extLst>
          </p:cNvPr>
          <p:cNvSpPr>
            <a:spLocks xmlns:a="http://schemas.openxmlformats.org/drawingml/2006/main" noGrp="1"/>
          </p:cNvSpPr>
          <p:nvPr/>
        </p:nvSpPr>
        <p:spPr>
          <a:xfrm xmlns:a="http://schemas.openxmlformats.org/drawingml/2006/main">
            <a:off x="609600" y="523875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AI + SCIENCE</a:t>
            </a:r>
          </a:p>
        </p:txBody>
      </p:sp>
      <p:sp>
        <p:nvSpPr>
          <p:cNvPr id="18" name="">
            <a:extLst xmlns:a="http://schemas.openxmlformats.org/drawingml/2006/main">
              <a:ext uri="{FF2B5EF4-FFF2-40B4-BE49-F238E27FC236}">
                <a16:creationId xmlns:a16="http://schemas.microsoft.com/office/drawing/2014/main" id="{7F4A26DD-CEBD-44A2-8E7D-FC01E64848F6}"/>
              </a:ext>
            </a:extLst>
          </p:cNvPr>
          <p:cNvSpPr>
            <a:spLocks xmlns:a="http://schemas.openxmlformats.org/drawingml/2006/main" noGrp="1"/>
          </p:cNvSpPr>
          <p:nvPr/>
        </p:nvSpPr>
        <p:spPr>
          <a:xfrm xmlns:a="http://schemas.openxmlformats.org/drawingml/2006/main">
            <a:off x="2152650" y="521017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EFBF5"/>
                </a:solidFill>
                <a:latin typeface="DejaVu Sans"/>
                <a:ea typeface="DejaVu Sans"/>
                <a:cs typeface="DejaVu Sans"/>
              </a:defRPr>
            </a:pPr>
            <a:r>
              <a:rPr sz="1650" b="1">
                <a:solidFill>
                  <a:srgbClr val="EEFBF5"/>
                </a:solidFill>
                <a:latin typeface="DejaVu Sans"/>
                <a:ea typeface="DejaVu Sans"/>
                <a:cs typeface="DejaVu Sans"/>
              </a:rPr>
              <a:t>MaiaNNE + MaiaStatistics</a:t>
            </a:r>
          </a:p>
        </p:txBody>
      </p:sp>
      <p:sp>
        <p:nvSpPr>
          <p:cNvPr id="19" name="">
            <a:extLst xmlns:a="http://schemas.openxmlformats.org/drawingml/2006/main">
              <a:ext uri="{FF2B5EF4-FFF2-40B4-BE49-F238E27FC236}">
                <a16:creationId xmlns:a16="http://schemas.microsoft.com/office/drawing/2014/main" id="{F223A097-1788-4BD0-8D3E-B91DD97DB05D}"/>
              </a:ext>
            </a:extLst>
          </p:cNvPr>
          <p:cNvSpPr>
            <a:spLocks xmlns:a="http://schemas.openxmlformats.org/drawingml/2006/main" noGrp="1"/>
          </p:cNvSpPr>
          <p:nvPr/>
        </p:nvSpPr>
        <p:spPr>
          <a:xfrm xmlns:a="http://schemas.openxmlformats.org/drawingml/2006/main">
            <a:off x="5562600" y="5210175"/>
            <a:ext cx="573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B7AA"/>
                </a:solidFill>
                <a:latin typeface="DejaVu Sans"/>
                <a:ea typeface="DejaVu Sans"/>
                <a:cs typeface="DejaVu Sans"/>
              </a:defRPr>
            </a:pPr>
            <a:r>
              <a:rPr sz="1350" b="0">
                <a:solidFill>
                  <a:srgbClr val="9AB7AA"/>
                </a:solidFill>
                <a:latin typeface="DejaVu Sans"/>
                <a:ea typeface="DejaVu Sans"/>
                <a:cs typeface="DejaVu Sans"/>
              </a:rPr>
              <a:t>Machine learning, forecasting and scientific computing</a:t>
            </a:r>
          </a:p>
        </p:txBody>
      </p:sp>
      <p:sp>
        <p:nvSpPr>
          <p:cNvPr id="20" name="">
            <a:extLst xmlns:a="http://schemas.openxmlformats.org/drawingml/2006/main">
              <a:ext uri="{FF2B5EF4-FFF2-40B4-BE49-F238E27FC236}">
                <a16:creationId xmlns:a16="http://schemas.microsoft.com/office/drawing/2014/main" id="{04DC09E2-E0FC-4AFA-AD52-425EC710538E}"/>
              </a:ext>
            </a:extLst>
          </p:cNvPr>
          <p:cNvSpPr>
            <a:spLocks xmlns:a="http://schemas.openxmlformats.org/drawingml/2006/main" noGrp="1"/>
          </p:cNvSpPr>
          <p:nvPr/>
        </p:nvSpPr>
        <p:spPr>
          <a:xfrm xmlns:a="http://schemas.openxmlformats.org/drawingml/2006/main">
            <a:off x="609600" y="61531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2E9FF"/>
                </a:solidFill>
                <a:latin typeface="DejaVu Sans"/>
                <a:ea typeface="DejaVu Sans"/>
                <a:cs typeface="DejaVu Sans"/>
              </a:defRPr>
            </a:pPr>
            <a:r>
              <a:rPr sz="1275" b="1">
                <a:solidFill>
                  <a:srgbClr val="62E9FF"/>
                </a:solidFill>
                <a:latin typeface="DejaVu Sans"/>
                <a:ea typeface="DejaVu Sans"/>
                <a:cs typeface="DejaVu Sans"/>
              </a:rPr>
              <a:t>Why it matters</a:t>
            </a:r>
          </a:p>
        </p:txBody>
      </p:sp>
      <p:sp>
        <p:nvSpPr>
          <p:cNvPr id="21" name="">
            <a:extLst xmlns:a="http://schemas.openxmlformats.org/drawingml/2006/main">
              <a:ext uri="{FF2B5EF4-FFF2-40B4-BE49-F238E27FC236}">
                <a16:creationId xmlns:a16="http://schemas.microsoft.com/office/drawing/2014/main" id="{8C3B2867-4A96-4664-AFFC-1A871FDC4F5D}"/>
              </a:ext>
            </a:extLst>
          </p:cNvPr>
          <p:cNvSpPr>
            <a:spLocks xmlns:a="http://schemas.openxmlformats.org/drawingml/2006/main" noGrp="1"/>
          </p:cNvSpPr>
          <p:nvPr/>
        </p:nvSpPr>
        <p:spPr>
          <a:xfrm xmlns:a="http://schemas.openxmlformats.org/drawingml/2006/main">
            <a:off x="2152650" y="6134100"/>
            <a:ext cx="8705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EEFBF5"/>
                </a:solidFill>
                <a:latin typeface="DejaVu Sans"/>
                <a:ea typeface="DejaVu Sans"/>
                <a:cs typeface="DejaVu Sans"/>
              </a:defRPr>
            </a:pPr>
            <a:r>
              <a:rPr sz="1350" b="0">
                <a:solidFill>
                  <a:srgbClr val="EEFBF5"/>
                </a:solidFill>
                <a:latin typeface="DejaVu Sans"/>
                <a:ea typeface="DejaVu Sans"/>
                <a:cs typeface="DejaVu Sans"/>
              </a:rPr>
              <a:t>The roadmap can reuse owned components instead of assembling every layer from third-party products.</a:t>
            </a:r>
          </a:p>
        </p:txBody>
      </p:sp>
      <p:sp>
        <p:nvSpPr>
          <p:cNvPr id="22" name="">
            <a:extLst xmlns:a="http://schemas.openxmlformats.org/drawingml/2006/main">
              <a:ext uri="{FF2B5EF4-FFF2-40B4-BE49-F238E27FC236}">
                <a16:creationId xmlns:a16="http://schemas.microsoft.com/office/drawing/2014/main" id="{46C29E60-5ACA-4B67-A82F-2653B733C157}"/>
              </a:ext>
            </a:extLst>
          </p:cNvPr>
          <p:cNvSpPr>
            <a:spLocks xmlns:a="http://schemas.openxmlformats.org/drawingml/2006/main" noGrp="1"/>
          </p:cNvSpPr>
          <p:nvPr/>
        </p:nvSpPr>
        <p:spPr>
          <a:xfrm xmlns:a="http://schemas.openxmlformats.org/drawingml/2006/main">
            <a:off x="111061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9AB7AA"/>
                </a:solidFill>
                <a:latin typeface="DejaVu Sans"/>
                <a:ea typeface="DejaVu Sans"/>
                <a:cs typeface="DejaVu Sans"/>
              </a:defRPr>
            </a:pPr>
            <a:r>
              <a:rPr sz="975" b="0">
                <a:solidFill>
                  <a:srgbClr val="9AB7AA"/>
                </a:solidFill>
                <a:latin typeface="DejaVu Sans"/>
                <a:ea typeface="DejaVu Sans"/>
                <a:cs typeface="DejaVu Sans"/>
              </a:rPr>
              <a:t>06</a:t>
            </a:r>
          </a:p>
        </p:txBody>
      </p:sp>
    </p:spTree>
    <p:extLst>
      <p:ext uri="{BB962C8B-B14F-4D97-AF65-F5344CB8AC3E}">
        <p14:creationId xmlns:p14="http://schemas.microsoft.com/office/powerpoint/2010/main" val="1864533093"/>
      </p:ext>
    </p:extLst>
  </p:cSld>
</p:sld>
</file>

<file path=ppt/slides/slide7.xml><?xml version="1.0" encoding="utf-8"?>
<p:sld xmlns:p="http://schemas.openxmlformats.org/presentationml/2006/main">
  <p:cSld>
    <p:bg>
      <p:bgPr>
        <a:solidFill xmlns:a="http://schemas.openxmlformats.org/drawingml/2006/main">
          <a:srgbClr val="050B09"/>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1A0DBE1-4603-4F25-99E6-BDEFC3987CFE}"/>
              </a:ext>
            </a:extLst>
          </p:cNvPr>
          <p:cNvSpPr>
            <a:spLocks xmlns:a="http://schemas.openxmlformats.org/drawingml/2006/main" noGrp="1"/>
          </p:cNvSpPr>
          <p:nvPr/>
        </p:nvSpPr>
        <p:spPr>
          <a:xfrm xmlns:a="http://schemas.openxmlformats.org/drawingml/2006/main">
            <a:off x="609600" y="3619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BUSINESS MODEL</a:t>
            </a:r>
          </a:p>
        </p:txBody>
      </p:sp>
      <p:sp>
        <p:nvSpPr>
          <p:cNvPr id="2" name="">
            <a:extLst xmlns:a="http://schemas.openxmlformats.org/drawingml/2006/main">
              <a:ext uri="{FF2B5EF4-FFF2-40B4-BE49-F238E27FC236}">
                <a16:creationId xmlns:a16="http://schemas.microsoft.com/office/drawing/2014/main" id="{792E8929-E690-48A6-BB82-1B652AB61B2D}"/>
              </a:ext>
            </a:extLst>
          </p:cNvPr>
          <p:cNvSpPr>
            <a:spLocks xmlns:a="http://schemas.openxmlformats.org/drawingml/2006/main" noGrp="1"/>
          </p:cNvSpPr>
          <p:nvPr/>
        </p:nvSpPr>
        <p:spPr>
          <a:xfrm xmlns:a="http://schemas.openxmlformats.org/drawingml/2006/main">
            <a:off x="609600" y="68580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EFBF5"/>
                </a:solidFill>
                <a:latin typeface="DejaVu Sans"/>
                <a:ea typeface="DejaVu Sans"/>
                <a:cs typeface="DejaVu Sans"/>
              </a:defRPr>
            </a:pPr>
            <a:r>
              <a:rPr sz="2700" b="1">
                <a:solidFill>
                  <a:srgbClr val="EEFBF5"/>
                </a:solidFill>
                <a:latin typeface="DejaVu Sans"/>
                <a:ea typeface="DejaVu Sans"/>
                <a:cs typeface="DejaVu Sans"/>
              </a:rPr>
              <a:t>Commercial paths around an open core</a:t>
            </a:r>
          </a:p>
        </p:txBody>
      </p:sp>
      <p:sp>
        <p:nvSpPr>
          <p:cNvPr id="3" name="">
            <a:extLst xmlns:a="http://schemas.openxmlformats.org/drawingml/2006/main">
              <a:ext uri="{FF2B5EF4-FFF2-40B4-BE49-F238E27FC236}">
                <a16:creationId xmlns:a16="http://schemas.microsoft.com/office/drawing/2014/main" id="{2774C23C-FA40-4C85-8B03-4A5444FFABCF}"/>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8D16B7-1577-4A70-8129-702BD70D0E7F}"/>
              </a:ext>
            </a:extLst>
          </p:cNvPr>
          <p:cNvSpPr>
            <a:spLocks xmlns:a="http://schemas.openxmlformats.org/drawingml/2006/main" noGrp="1"/>
          </p:cNvSpPr>
          <p:nvPr/>
        </p:nvSpPr>
        <p:spPr>
          <a:xfrm xmlns:a="http://schemas.openxmlformats.org/drawingml/2006/main">
            <a:off x="609600" y="167640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EFBF5"/>
                </a:solidFill>
                <a:latin typeface="DejaVu Sans"/>
                <a:ea typeface="DejaVu Sans"/>
                <a:cs typeface="DejaVu Sans"/>
              </a:defRPr>
            </a:pPr>
            <a:r>
              <a:rPr sz="2025" b="1">
                <a:solidFill>
                  <a:srgbClr val="EEFBF5"/>
                </a:solidFill>
                <a:latin typeface="DejaVu Sans"/>
                <a:ea typeface="DejaVu Sans"/>
                <a:cs typeface="DejaVu Sans"/>
              </a:rPr>
              <a:t>Proposed routes to revenue</a:t>
            </a:r>
          </a:p>
        </p:txBody>
      </p:sp>
      <p:sp>
        <p:nvSpPr>
          <p:cNvPr id="5" name="">
            <a:extLst xmlns:a="http://schemas.openxmlformats.org/drawingml/2006/main">
              <a:ext uri="{FF2B5EF4-FFF2-40B4-BE49-F238E27FC236}">
                <a16:creationId xmlns:a16="http://schemas.microsoft.com/office/drawing/2014/main" id="{C5A62939-069B-4FC6-AA14-C7AFC52CA067}"/>
              </a:ext>
            </a:extLst>
          </p:cNvPr>
          <p:cNvSpPr>
            <a:spLocks xmlns:a="http://schemas.openxmlformats.org/drawingml/2006/main" noGrp="1"/>
          </p:cNvSpPr>
          <p:nvPr/>
        </p:nvSpPr>
        <p:spPr>
          <a:xfrm xmlns:a="http://schemas.openxmlformats.org/drawingml/2006/main">
            <a:off x="609600" y="2114550"/>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B7AA"/>
                </a:solidFill>
                <a:latin typeface="DejaVu Sans"/>
                <a:ea typeface="DejaVu Sans"/>
                <a:cs typeface="DejaVu Sans"/>
              </a:defRPr>
            </a:pPr>
            <a:r>
              <a:rPr sz="1275" b="0">
                <a:solidFill>
                  <a:srgbClr val="9AB7AA"/>
                </a:solidFill>
                <a:latin typeface="DejaVu Sans"/>
                <a:ea typeface="DejaVu Sans"/>
                <a:cs typeface="DejaVu Sans"/>
              </a:rPr>
              <a:t>These are commercialization hypotheses for validation with early customers.</a:t>
            </a:r>
          </a:p>
        </p:txBody>
      </p:sp>
      <p:sp>
        <p:nvSpPr>
          <p:cNvPr id="6" name="">
            <a:extLst xmlns:a="http://schemas.openxmlformats.org/drawingml/2006/main">
              <a:ext uri="{FF2B5EF4-FFF2-40B4-BE49-F238E27FC236}">
                <a16:creationId xmlns:a16="http://schemas.microsoft.com/office/drawing/2014/main" id="{77CDAACB-30B2-469A-B54B-874E378EEC2F}"/>
              </a:ext>
            </a:extLst>
          </p:cNvPr>
          <p:cNvSpPr>
            <a:spLocks xmlns:a="http://schemas.openxmlformats.org/drawingml/2006/main" noGrp="1"/>
          </p:cNvSpPr>
          <p:nvPr/>
        </p:nvSpPr>
        <p:spPr>
          <a:xfrm xmlns:a="http://schemas.openxmlformats.org/drawingml/2006/main">
            <a:off x="609600" y="28765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9F39A"/>
                </a:solidFill>
                <a:latin typeface="DejaVu Sans"/>
                <a:ea typeface="DejaVu Sans"/>
                <a:cs typeface="DejaVu Sans"/>
              </a:defRPr>
            </a:pPr>
            <a:r>
              <a:rPr sz="1650" b="1">
                <a:solidFill>
                  <a:srgbClr val="49F39A"/>
                </a:solidFill>
                <a:latin typeface="DejaVu Sans"/>
                <a:ea typeface="DejaVu Sans"/>
                <a:cs typeface="DejaVu Sans"/>
              </a:rPr>
              <a:t>Managed deployment</a:t>
            </a:r>
          </a:p>
        </p:txBody>
      </p:sp>
      <p:sp>
        <p:nvSpPr>
          <p:cNvPr id="7" name="">
            <a:extLst xmlns:a="http://schemas.openxmlformats.org/drawingml/2006/main">
              <a:ext uri="{FF2B5EF4-FFF2-40B4-BE49-F238E27FC236}">
                <a16:creationId xmlns:a16="http://schemas.microsoft.com/office/drawing/2014/main" id="{B25B6B9B-0678-4430-8780-0FDB43B660DF}"/>
              </a:ext>
            </a:extLst>
          </p:cNvPr>
          <p:cNvSpPr>
            <a:spLocks xmlns:a="http://schemas.openxmlformats.org/drawingml/2006/main" noGrp="1"/>
          </p:cNvSpPr>
          <p:nvPr/>
        </p:nvSpPr>
        <p:spPr>
          <a:xfrm xmlns:a="http://schemas.openxmlformats.org/drawingml/2006/main">
            <a:off x="609600" y="33242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EEFBF5"/>
                </a:solidFill>
                <a:latin typeface="DejaVu Sans"/>
                <a:ea typeface="DejaVu Sans"/>
                <a:cs typeface="DejaVu Sans"/>
              </a:defRPr>
            </a:pPr>
            <a:r>
              <a:rPr sz="1425" b="0">
                <a:solidFill>
                  <a:srgbClr val="EEFBF5"/>
                </a:solidFill>
                <a:latin typeface="DejaVu Sans"/>
                <a:ea typeface="DejaVu Sans"/>
                <a:cs typeface="DejaVu Sans"/>
              </a:rPr>
              <a:t>Installation, monitoring, updates and support for Maia Chat, RAG and Edge.</a:t>
            </a:r>
          </a:p>
        </p:txBody>
      </p:sp>
      <p:sp>
        <p:nvSpPr>
          <p:cNvPr id="8" name="">
            <a:extLst xmlns:a="http://schemas.openxmlformats.org/drawingml/2006/main">
              <a:ext uri="{FF2B5EF4-FFF2-40B4-BE49-F238E27FC236}">
                <a16:creationId xmlns:a16="http://schemas.microsoft.com/office/drawing/2014/main" id="{A9E8D24A-0553-475D-9B9C-6F995FD956D9}"/>
              </a:ext>
            </a:extLst>
          </p:cNvPr>
          <p:cNvSpPr>
            <a:spLocks xmlns:a="http://schemas.openxmlformats.org/drawingml/2006/main" noGrp="1"/>
          </p:cNvSpPr>
          <p:nvPr/>
        </p:nvSpPr>
        <p:spPr>
          <a:xfrm xmlns:a="http://schemas.openxmlformats.org/drawingml/2006/main">
            <a:off x="6096000" y="28765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9F39A"/>
                </a:solidFill>
                <a:latin typeface="DejaVu Sans"/>
                <a:ea typeface="DejaVu Sans"/>
                <a:cs typeface="DejaVu Sans"/>
              </a:defRPr>
            </a:pPr>
            <a:r>
              <a:rPr sz="1650" b="1">
                <a:solidFill>
                  <a:srgbClr val="49F39A"/>
                </a:solidFill>
                <a:latin typeface="DejaVu Sans"/>
                <a:ea typeface="DejaVu Sans"/>
                <a:cs typeface="DejaVu Sans"/>
              </a:rPr>
              <a:t>Institutional AI</a:t>
            </a:r>
          </a:p>
        </p:txBody>
      </p:sp>
      <p:sp>
        <p:nvSpPr>
          <p:cNvPr id="9" name="">
            <a:extLst xmlns:a="http://schemas.openxmlformats.org/drawingml/2006/main">
              <a:ext uri="{FF2B5EF4-FFF2-40B4-BE49-F238E27FC236}">
                <a16:creationId xmlns:a16="http://schemas.microsoft.com/office/drawing/2014/main" id="{F1E8C1F3-01FF-4F22-BB51-3E27F9D2DE70}"/>
              </a:ext>
            </a:extLst>
          </p:cNvPr>
          <p:cNvSpPr>
            <a:spLocks xmlns:a="http://schemas.openxmlformats.org/drawingml/2006/main" noGrp="1"/>
          </p:cNvSpPr>
          <p:nvPr/>
        </p:nvSpPr>
        <p:spPr>
          <a:xfrm xmlns:a="http://schemas.openxmlformats.org/drawingml/2006/main">
            <a:off x="6096000" y="33242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EEFBF5"/>
                </a:solidFill>
                <a:latin typeface="DejaVu Sans"/>
                <a:ea typeface="DejaVu Sans"/>
                <a:cs typeface="DejaVu Sans"/>
              </a:defRPr>
            </a:pPr>
            <a:r>
              <a:rPr sz="1425" b="0">
                <a:solidFill>
                  <a:srgbClr val="EEFBF5"/>
                </a:solidFill>
                <a:latin typeface="DejaVu Sans"/>
                <a:ea typeface="DejaVu Sans"/>
                <a:cs typeface="DejaVu Sans"/>
              </a:rPr>
              <a:t>Private knowledge assistants for education, research and professional organizations.</a:t>
            </a:r>
          </a:p>
        </p:txBody>
      </p:sp>
      <p:sp>
        <p:nvSpPr>
          <p:cNvPr id="10" name="">
            <a:extLst xmlns:a="http://schemas.openxmlformats.org/drawingml/2006/main">
              <a:ext uri="{FF2B5EF4-FFF2-40B4-BE49-F238E27FC236}">
                <a16:creationId xmlns:a16="http://schemas.microsoft.com/office/drawing/2014/main" id="{C39FBB9E-24E0-43E6-A7ED-D2DEB9CA6F67}"/>
              </a:ext>
            </a:extLst>
          </p:cNvPr>
          <p:cNvSpPr>
            <a:spLocks xmlns:a="http://schemas.openxmlformats.org/drawingml/2006/main" noGrp="1"/>
          </p:cNvSpPr>
          <p:nvPr/>
        </p:nvSpPr>
        <p:spPr>
          <a:xfrm xmlns:a="http://schemas.openxmlformats.org/drawingml/2006/main">
            <a:off x="609600" y="43243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9F39A"/>
                </a:solidFill>
                <a:latin typeface="DejaVu Sans"/>
                <a:ea typeface="DejaVu Sans"/>
                <a:cs typeface="DejaVu Sans"/>
              </a:defRPr>
            </a:pPr>
            <a:r>
              <a:rPr sz="1650" b="1">
                <a:solidFill>
                  <a:srgbClr val="49F39A"/>
                </a:solidFill>
                <a:latin typeface="DejaVu Sans"/>
                <a:ea typeface="DejaVu Sans"/>
                <a:cs typeface="DejaVu Sans"/>
              </a:rPr>
              <a:t>Vertical solutions</a:t>
            </a:r>
          </a:p>
        </p:txBody>
      </p:sp>
      <p:sp>
        <p:nvSpPr>
          <p:cNvPr id="11" name="">
            <a:extLst xmlns:a="http://schemas.openxmlformats.org/drawingml/2006/main">
              <a:ext uri="{FF2B5EF4-FFF2-40B4-BE49-F238E27FC236}">
                <a16:creationId xmlns:a16="http://schemas.microsoft.com/office/drawing/2014/main" id="{D712842E-F9D3-4C65-B37C-B2FACE9A99E2}"/>
              </a:ext>
            </a:extLst>
          </p:cNvPr>
          <p:cNvSpPr>
            <a:spLocks xmlns:a="http://schemas.openxmlformats.org/drawingml/2006/main" noGrp="1"/>
          </p:cNvSpPr>
          <p:nvPr/>
        </p:nvSpPr>
        <p:spPr>
          <a:xfrm xmlns:a="http://schemas.openxmlformats.org/drawingml/2006/main">
            <a:off x="609600" y="47720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EEFBF5"/>
                </a:solidFill>
                <a:latin typeface="DejaVu Sans"/>
                <a:ea typeface="DejaVu Sans"/>
                <a:cs typeface="DejaVu Sans"/>
              </a:defRPr>
            </a:pPr>
            <a:r>
              <a:rPr sz="1425" b="0">
                <a:solidFill>
                  <a:srgbClr val="EEFBF5"/>
                </a:solidFill>
                <a:latin typeface="DejaVu Sans"/>
                <a:ea typeface="DejaVu Sans"/>
                <a:cs typeface="DejaVu Sans"/>
              </a:rPr>
              <a:t>Specialized collections, workflows and integrations for selected domains.</a:t>
            </a:r>
          </a:p>
        </p:txBody>
      </p:sp>
      <p:sp>
        <p:nvSpPr>
          <p:cNvPr id="12" name="">
            <a:extLst xmlns:a="http://schemas.openxmlformats.org/drawingml/2006/main">
              <a:ext uri="{FF2B5EF4-FFF2-40B4-BE49-F238E27FC236}">
                <a16:creationId xmlns:a16="http://schemas.microsoft.com/office/drawing/2014/main" id="{247D1854-F72E-4CC9-979D-949667A504FF}"/>
              </a:ext>
            </a:extLst>
          </p:cNvPr>
          <p:cNvSpPr>
            <a:spLocks xmlns:a="http://schemas.openxmlformats.org/drawingml/2006/main" noGrp="1"/>
          </p:cNvSpPr>
          <p:nvPr/>
        </p:nvSpPr>
        <p:spPr>
          <a:xfrm xmlns:a="http://schemas.openxmlformats.org/drawingml/2006/main">
            <a:off x="6096000" y="43243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9F39A"/>
                </a:solidFill>
                <a:latin typeface="DejaVu Sans"/>
                <a:ea typeface="DejaVu Sans"/>
                <a:cs typeface="DejaVu Sans"/>
              </a:defRPr>
            </a:pPr>
            <a:r>
              <a:rPr sz="1650" b="1">
                <a:solidFill>
                  <a:srgbClr val="49F39A"/>
                </a:solidFill>
                <a:latin typeface="DejaVu Sans"/>
                <a:ea typeface="DejaVu Sans"/>
                <a:cs typeface="DejaVu Sans"/>
              </a:rPr>
              <a:t>Engineering services</a:t>
            </a:r>
          </a:p>
        </p:txBody>
      </p:sp>
      <p:sp>
        <p:nvSpPr>
          <p:cNvPr id="13" name="">
            <a:extLst xmlns:a="http://schemas.openxmlformats.org/drawingml/2006/main">
              <a:ext uri="{FF2B5EF4-FFF2-40B4-BE49-F238E27FC236}">
                <a16:creationId xmlns:a16="http://schemas.microsoft.com/office/drawing/2014/main" id="{5DC0FEA9-8776-4816-BD9C-A1BB0E449721}"/>
              </a:ext>
            </a:extLst>
          </p:cNvPr>
          <p:cNvSpPr>
            <a:spLocks xmlns:a="http://schemas.openxmlformats.org/drawingml/2006/main" noGrp="1"/>
          </p:cNvSpPr>
          <p:nvPr/>
        </p:nvSpPr>
        <p:spPr>
          <a:xfrm xmlns:a="http://schemas.openxmlformats.org/drawingml/2006/main">
            <a:off x="6096000" y="47720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EEFBF5"/>
                </a:solidFill>
                <a:latin typeface="DejaVu Sans"/>
                <a:ea typeface="DejaVu Sans"/>
                <a:cs typeface="DejaVu Sans"/>
              </a:defRPr>
            </a:pPr>
            <a:r>
              <a:rPr sz="1425" b="0">
                <a:solidFill>
                  <a:srgbClr val="EEFBF5"/>
                </a:solidFill>
                <a:latin typeface="DejaVu Sans"/>
                <a:ea typeface="DejaVu Sans"/>
                <a:cs typeface="DejaVu Sans"/>
              </a:rPr>
              <a:t>Customization, model integration, data preparation and secure infrastructure.</a:t>
            </a:r>
          </a:p>
        </p:txBody>
      </p:sp>
      <p:sp>
        <p:nvSpPr>
          <p:cNvPr id="14" name="">
            <a:extLst xmlns:a="http://schemas.openxmlformats.org/drawingml/2006/main">
              <a:ext uri="{FF2B5EF4-FFF2-40B4-BE49-F238E27FC236}">
                <a16:creationId xmlns:a16="http://schemas.microsoft.com/office/drawing/2014/main" id="{E4159333-10E7-4288-B2E9-CFDA7DFF04FE}"/>
              </a:ext>
            </a:extLst>
          </p:cNvPr>
          <p:cNvSpPr>
            <a:spLocks xmlns:a="http://schemas.openxmlformats.org/drawingml/2006/main" noGrp="1"/>
          </p:cNvSpPr>
          <p:nvPr/>
        </p:nvSpPr>
        <p:spPr>
          <a:xfrm xmlns:a="http://schemas.openxmlformats.org/drawingml/2006/main">
            <a:off x="609600" y="5895975"/>
            <a:ext cx="10668000" cy="19050"/>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9836D43-5AD1-4DC2-A539-92C86D0C2500}"/>
              </a:ext>
            </a:extLst>
          </p:cNvPr>
          <p:cNvSpPr>
            <a:spLocks xmlns:a="http://schemas.openxmlformats.org/drawingml/2006/main" noGrp="1"/>
          </p:cNvSpPr>
          <p:nvPr/>
        </p:nvSpPr>
        <p:spPr>
          <a:xfrm xmlns:a="http://schemas.openxmlformats.org/drawingml/2006/main">
            <a:off x="609600" y="61436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2E9FF"/>
                </a:solidFill>
                <a:latin typeface="DejaVu Sans"/>
                <a:ea typeface="DejaVu Sans"/>
                <a:cs typeface="DejaVu Sans"/>
              </a:defRPr>
            </a:pPr>
            <a:r>
              <a:rPr sz="1275" b="1">
                <a:solidFill>
                  <a:srgbClr val="62E9FF"/>
                </a:solidFill>
                <a:latin typeface="DejaVu Sans"/>
                <a:ea typeface="DejaVu Sans"/>
                <a:cs typeface="DejaVu Sans"/>
              </a:rPr>
              <a:t>Near-term validation</a:t>
            </a:r>
          </a:p>
        </p:txBody>
      </p:sp>
      <p:sp>
        <p:nvSpPr>
          <p:cNvPr id="16" name="">
            <a:extLst xmlns:a="http://schemas.openxmlformats.org/drawingml/2006/main">
              <a:ext uri="{FF2B5EF4-FFF2-40B4-BE49-F238E27FC236}">
                <a16:creationId xmlns:a16="http://schemas.microsoft.com/office/drawing/2014/main" id="{66B3DA85-960A-4176-98C9-D633391A90BE}"/>
              </a:ext>
            </a:extLst>
          </p:cNvPr>
          <p:cNvSpPr>
            <a:spLocks xmlns:a="http://schemas.openxmlformats.org/drawingml/2006/main" noGrp="1"/>
          </p:cNvSpPr>
          <p:nvPr/>
        </p:nvSpPr>
        <p:spPr>
          <a:xfrm xmlns:a="http://schemas.openxmlformats.org/drawingml/2006/main">
            <a:off x="2800350" y="6124575"/>
            <a:ext cx="817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B7AA"/>
                </a:solidFill>
                <a:latin typeface="DejaVu Sans"/>
                <a:ea typeface="DejaVu Sans"/>
                <a:cs typeface="DejaVu Sans"/>
              </a:defRPr>
            </a:pPr>
            <a:r>
              <a:rPr sz="1350" b="0">
                <a:solidFill>
                  <a:srgbClr val="9AB7AA"/>
                </a:solidFill>
                <a:latin typeface="DejaVu Sans"/>
                <a:ea typeface="DejaVu Sans"/>
                <a:cs typeface="DejaVu Sans"/>
              </a:rPr>
              <a:t>Paid pilots with clear user groups, document collections and measurable service requirements.</a:t>
            </a:r>
          </a:p>
        </p:txBody>
      </p:sp>
      <p:sp>
        <p:nvSpPr>
          <p:cNvPr id="17" name="">
            <a:extLst xmlns:a="http://schemas.openxmlformats.org/drawingml/2006/main">
              <a:ext uri="{FF2B5EF4-FFF2-40B4-BE49-F238E27FC236}">
                <a16:creationId xmlns:a16="http://schemas.microsoft.com/office/drawing/2014/main" id="{94AC73AA-9D15-4265-9282-FAB7CBC462DF}"/>
              </a:ext>
            </a:extLst>
          </p:cNvPr>
          <p:cNvSpPr>
            <a:spLocks xmlns:a="http://schemas.openxmlformats.org/drawingml/2006/main" noGrp="1"/>
          </p:cNvSpPr>
          <p:nvPr/>
        </p:nvSpPr>
        <p:spPr>
          <a:xfrm xmlns:a="http://schemas.openxmlformats.org/drawingml/2006/main">
            <a:off x="111061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9AB7AA"/>
                </a:solidFill>
                <a:latin typeface="DejaVu Sans"/>
                <a:ea typeface="DejaVu Sans"/>
                <a:cs typeface="DejaVu Sans"/>
              </a:defRPr>
            </a:pPr>
            <a:r>
              <a:rPr sz="975" b="0">
                <a:solidFill>
                  <a:srgbClr val="9AB7AA"/>
                </a:solidFill>
                <a:latin typeface="DejaVu Sans"/>
                <a:ea typeface="DejaVu Sans"/>
                <a:cs typeface="DejaVu Sans"/>
              </a:rPr>
              <a:t>07</a:t>
            </a:r>
          </a:p>
        </p:txBody>
      </p:sp>
    </p:spTree>
    <p:extLst>
      <p:ext uri="{BB962C8B-B14F-4D97-AF65-F5344CB8AC3E}">
        <p14:creationId xmlns:p14="http://schemas.microsoft.com/office/powerpoint/2010/main" val="671822011"/>
      </p:ext>
    </p:extLst>
  </p:cSld>
</p:sld>
</file>

<file path=ppt/slides/slide8.xml><?xml version="1.0" encoding="utf-8"?>
<p:sld xmlns:p="http://schemas.openxmlformats.org/presentationml/2006/main">
  <p:cSld>
    <p:bg>
      <p:bgPr>
        <a:solidFill xmlns:a="http://schemas.openxmlformats.org/drawingml/2006/main">
          <a:srgbClr val="050B0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0D6642F-D427-4DB5-8140-445361AC9A27}"/>
              </a:ext>
            </a:extLst>
          </p:cNvPr>
          <p:cNvSpPr>
            <a:spLocks xmlns:a="http://schemas.openxmlformats.org/drawingml/2006/main" noGrp="1"/>
          </p:cNvSpPr>
          <p:nvPr/>
        </p:nvSpPr>
        <p:spPr>
          <a:xfrm xmlns:a="http://schemas.openxmlformats.org/drawingml/2006/main">
            <a:off x="609600" y="3619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49F39A"/>
                </a:solidFill>
                <a:latin typeface="DejaVu Sans"/>
                <a:ea typeface="DejaVu Sans"/>
                <a:cs typeface="DejaVu Sans"/>
              </a:defRPr>
            </a:pPr>
            <a:r>
              <a:rPr sz="1050" b="1">
                <a:solidFill>
                  <a:srgbClr val="49F39A"/>
                </a:solidFill>
                <a:latin typeface="DejaVu Sans"/>
                <a:ea typeface="DejaVu Sans"/>
                <a:cs typeface="DejaVu Sans"/>
              </a:rPr>
              <a:t>NEXT STAGE</a:t>
            </a:r>
          </a:p>
        </p:txBody>
      </p:sp>
      <p:sp>
        <p:nvSpPr>
          <p:cNvPr id="2" name="">
            <a:extLst xmlns:a="http://schemas.openxmlformats.org/drawingml/2006/main">
              <a:ext uri="{FF2B5EF4-FFF2-40B4-BE49-F238E27FC236}">
                <a16:creationId xmlns:a16="http://schemas.microsoft.com/office/drawing/2014/main" id="{341A4BCB-3360-4D4A-8FF0-1D9DB80CC1F3}"/>
              </a:ext>
            </a:extLst>
          </p:cNvPr>
          <p:cNvSpPr>
            <a:spLocks xmlns:a="http://schemas.openxmlformats.org/drawingml/2006/main" noGrp="1"/>
          </p:cNvSpPr>
          <p:nvPr/>
        </p:nvSpPr>
        <p:spPr>
          <a:xfrm xmlns:a="http://schemas.openxmlformats.org/drawingml/2006/main">
            <a:off x="609600" y="68580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EFBF5"/>
                </a:solidFill>
                <a:latin typeface="DejaVu Sans"/>
                <a:ea typeface="DejaVu Sans"/>
                <a:cs typeface="DejaVu Sans"/>
              </a:defRPr>
            </a:pPr>
            <a:r>
              <a:rPr sz="2700" b="1">
                <a:solidFill>
                  <a:srgbClr val="EEFBF5"/>
                </a:solidFill>
                <a:latin typeface="DejaVu Sans"/>
                <a:ea typeface="DejaVu Sans"/>
                <a:cs typeface="DejaVu Sans"/>
              </a:rPr>
              <a:t>Working technology. Repeatable product.</a:t>
            </a:r>
          </a:p>
        </p:txBody>
      </p:sp>
      <p:sp>
        <p:nvSpPr>
          <p:cNvPr id="3" name="">
            <a:extLst xmlns:a="http://schemas.openxmlformats.org/drawingml/2006/main">
              <a:ext uri="{FF2B5EF4-FFF2-40B4-BE49-F238E27FC236}">
                <a16:creationId xmlns:a16="http://schemas.microsoft.com/office/drawing/2014/main" id="{64AEC343-6194-4D80-A64E-85E730E54A5C}"/>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0B5C1D-40AA-4239-94C5-07A0462A9215}"/>
              </a:ext>
            </a:extLst>
          </p:cNvPr>
          <p:cNvSpPr>
            <a:spLocks xmlns:a="http://schemas.openxmlformats.org/drawingml/2006/main" noGrp="1"/>
          </p:cNvSpPr>
          <p:nvPr/>
        </p:nvSpPr>
        <p:spPr>
          <a:xfrm xmlns:a="http://schemas.openxmlformats.org/drawingml/2006/main">
            <a:off x="609600" y="16764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EFBF5"/>
                </a:solidFill>
                <a:latin typeface="DejaVu Sans"/>
                <a:ea typeface="DejaVu Sans"/>
                <a:cs typeface="DejaVu Sans"/>
              </a:defRPr>
            </a:pPr>
            <a:r>
              <a:rPr sz="2025" b="1">
                <a:solidFill>
                  <a:srgbClr val="EEFBF5"/>
                </a:solidFill>
                <a:latin typeface="DejaVu Sans"/>
                <a:ea typeface="DejaVu Sans"/>
                <a:cs typeface="DejaVu Sans"/>
              </a:rPr>
              <a:t>Capital and strategic support would concentrate on four execution priorities.</a:t>
            </a:r>
          </a:p>
        </p:txBody>
      </p:sp>
      <p:sp>
        <p:nvSpPr>
          <p:cNvPr id="5" name="">
            <a:extLst xmlns:a="http://schemas.openxmlformats.org/drawingml/2006/main">
              <a:ext uri="{FF2B5EF4-FFF2-40B4-BE49-F238E27FC236}">
                <a16:creationId xmlns:a16="http://schemas.microsoft.com/office/drawing/2014/main" id="{422F4234-6D4F-43CF-A3FF-8A3608C13C2A}"/>
              </a:ext>
            </a:extLst>
          </p:cNvPr>
          <p:cNvSpPr>
            <a:spLocks xmlns:a="http://schemas.openxmlformats.org/drawingml/2006/main" noGrp="1"/>
          </p:cNvSpPr>
          <p:nvPr/>
        </p:nvSpPr>
        <p:spPr>
          <a:xfrm xmlns:a="http://schemas.openxmlformats.org/drawingml/2006/main">
            <a:off x="609600" y="26289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9F39A"/>
                </a:solidFill>
                <a:latin typeface="DejaVu Sans"/>
                <a:ea typeface="DejaVu Sans"/>
                <a:cs typeface="DejaVu Sans"/>
              </a:defRPr>
            </a:pPr>
            <a:r>
              <a:rPr sz="2025" b="1">
                <a:solidFill>
                  <a:srgbClr val="49F39A"/>
                </a:solidFill>
                <a:latin typeface="DejaVu Sans"/>
                <a:ea typeface="DejaVu Sans"/>
                <a:cs typeface="DejaVu Sans"/>
              </a:rPr>
              <a:t>1</a:t>
            </a:r>
          </a:p>
        </p:txBody>
      </p:sp>
      <p:sp>
        <p:nvSpPr>
          <p:cNvPr id="6" name="">
            <a:extLst xmlns:a="http://schemas.openxmlformats.org/drawingml/2006/main">
              <a:ext uri="{FF2B5EF4-FFF2-40B4-BE49-F238E27FC236}">
                <a16:creationId xmlns:a16="http://schemas.microsoft.com/office/drawing/2014/main" id="{3855542F-A732-4C21-B775-BB2B0BDC3F68}"/>
              </a:ext>
            </a:extLst>
          </p:cNvPr>
          <p:cNvSpPr>
            <a:spLocks xmlns:a="http://schemas.openxmlformats.org/drawingml/2006/main" noGrp="1"/>
          </p:cNvSpPr>
          <p:nvPr/>
        </p:nvSpPr>
        <p:spPr>
          <a:xfrm xmlns:a="http://schemas.openxmlformats.org/drawingml/2006/main">
            <a:off x="1181100" y="2657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PRODUCT</a:t>
            </a:r>
          </a:p>
        </p:txBody>
      </p:sp>
      <p:sp>
        <p:nvSpPr>
          <p:cNvPr id="7" name="">
            <a:extLst xmlns:a="http://schemas.openxmlformats.org/drawingml/2006/main">
              <a:ext uri="{FF2B5EF4-FFF2-40B4-BE49-F238E27FC236}">
                <a16:creationId xmlns:a16="http://schemas.microsoft.com/office/drawing/2014/main" id="{91A3C611-2355-486A-969E-992B91A37918}"/>
              </a:ext>
            </a:extLst>
          </p:cNvPr>
          <p:cNvSpPr>
            <a:spLocks xmlns:a="http://schemas.openxmlformats.org/drawingml/2006/main" noGrp="1"/>
          </p:cNvSpPr>
          <p:nvPr/>
        </p:nvSpPr>
        <p:spPr>
          <a:xfrm xmlns:a="http://schemas.openxmlformats.org/drawingml/2006/main">
            <a:off x="3105150" y="260985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EFBF5"/>
                </a:solidFill>
                <a:latin typeface="DejaVu Sans"/>
                <a:ea typeface="DejaVu Sans"/>
                <a:cs typeface="DejaVu Sans"/>
              </a:defRPr>
            </a:pPr>
            <a:r>
              <a:rPr sz="1500" b="0">
                <a:solidFill>
                  <a:srgbClr val="EEFBF5"/>
                </a:solidFill>
                <a:latin typeface="DejaVu Sans"/>
                <a:ea typeface="DejaVu Sans"/>
                <a:cs typeface="DejaVu Sans"/>
              </a:rPr>
              <a:t>Simplify onboarding, administration and multi-user operation.</a:t>
            </a:r>
          </a:p>
        </p:txBody>
      </p:sp>
      <p:sp>
        <p:nvSpPr>
          <p:cNvPr id="8" name="">
            <a:extLst xmlns:a="http://schemas.openxmlformats.org/drawingml/2006/main">
              <a:ext uri="{FF2B5EF4-FFF2-40B4-BE49-F238E27FC236}">
                <a16:creationId xmlns:a16="http://schemas.microsoft.com/office/drawing/2014/main" id="{6B837A02-C914-4CF7-BDAF-24F0F3E1CBDA}"/>
              </a:ext>
            </a:extLst>
          </p:cNvPr>
          <p:cNvSpPr>
            <a:spLocks xmlns:a="http://schemas.openxmlformats.org/drawingml/2006/main" noGrp="1"/>
          </p:cNvSpPr>
          <p:nvPr/>
        </p:nvSpPr>
        <p:spPr>
          <a:xfrm xmlns:a="http://schemas.openxmlformats.org/drawingml/2006/main">
            <a:off x="609600" y="34099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9F39A"/>
                </a:solidFill>
                <a:latin typeface="DejaVu Sans"/>
                <a:ea typeface="DejaVu Sans"/>
                <a:cs typeface="DejaVu Sans"/>
              </a:defRPr>
            </a:pPr>
            <a:r>
              <a:rPr sz="2025" b="1">
                <a:solidFill>
                  <a:srgbClr val="49F39A"/>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9ED37FBC-0135-46CB-9FCC-58C55D971BA1}"/>
              </a:ext>
            </a:extLst>
          </p:cNvPr>
          <p:cNvSpPr>
            <a:spLocks xmlns:a="http://schemas.openxmlformats.org/drawingml/2006/main" noGrp="1"/>
          </p:cNvSpPr>
          <p:nvPr/>
        </p:nvSpPr>
        <p:spPr>
          <a:xfrm xmlns:a="http://schemas.openxmlformats.org/drawingml/2006/main">
            <a:off x="1181100" y="34385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TRUST</a:t>
            </a:r>
          </a:p>
        </p:txBody>
      </p:sp>
      <p:sp>
        <p:nvSpPr>
          <p:cNvPr id="10" name="">
            <a:extLst xmlns:a="http://schemas.openxmlformats.org/drawingml/2006/main">
              <a:ext uri="{FF2B5EF4-FFF2-40B4-BE49-F238E27FC236}">
                <a16:creationId xmlns:a16="http://schemas.microsoft.com/office/drawing/2014/main" id="{AB044D09-4856-4893-B14C-CFE9BBA819B1}"/>
              </a:ext>
            </a:extLst>
          </p:cNvPr>
          <p:cNvSpPr>
            <a:spLocks xmlns:a="http://schemas.openxmlformats.org/drawingml/2006/main" noGrp="1"/>
          </p:cNvSpPr>
          <p:nvPr/>
        </p:nvSpPr>
        <p:spPr>
          <a:xfrm xmlns:a="http://schemas.openxmlformats.org/drawingml/2006/main">
            <a:off x="3105150" y="339090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EFBF5"/>
                </a:solidFill>
                <a:latin typeface="DejaVu Sans"/>
                <a:ea typeface="DejaVu Sans"/>
                <a:cs typeface="DejaVu Sans"/>
              </a:defRPr>
            </a:pPr>
            <a:r>
              <a:rPr sz="1500" b="0">
                <a:solidFill>
                  <a:srgbClr val="EEFBF5"/>
                </a:solidFill>
                <a:latin typeface="DejaVu Sans"/>
                <a:ea typeface="DejaVu Sans"/>
                <a:cs typeface="DejaVu Sans"/>
              </a:rPr>
              <a:t>Harden security, observability, backup and deployment automation.</a:t>
            </a:r>
          </a:p>
        </p:txBody>
      </p:sp>
      <p:sp>
        <p:nvSpPr>
          <p:cNvPr id="11" name="">
            <a:extLst xmlns:a="http://schemas.openxmlformats.org/drawingml/2006/main">
              <a:ext uri="{FF2B5EF4-FFF2-40B4-BE49-F238E27FC236}">
                <a16:creationId xmlns:a16="http://schemas.microsoft.com/office/drawing/2014/main" id="{CE787515-3EA7-40A7-9B47-82DAB7AC0C04}"/>
              </a:ext>
            </a:extLst>
          </p:cNvPr>
          <p:cNvSpPr>
            <a:spLocks xmlns:a="http://schemas.openxmlformats.org/drawingml/2006/main" noGrp="1"/>
          </p:cNvSpPr>
          <p:nvPr/>
        </p:nvSpPr>
        <p:spPr>
          <a:xfrm xmlns:a="http://schemas.openxmlformats.org/drawingml/2006/main">
            <a:off x="609600" y="41910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9F39A"/>
                </a:solidFill>
                <a:latin typeface="DejaVu Sans"/>
                <a:ea typeface="DejaVu Sans"/>
                <a:cs typeface="DejaVu Sans"/>
              </a:defRPr>
            </a:pPr>
            <a:r>
              <a:rPr sz="2025" b="1">
                <a:solidFill>
                  <a:srgbClr val="49F39A"/>
                </a:solidFill>
                <a:latin typeface="DejaVu Sans"/>
                <a:ea typeface="DejaVu Sans"/>
                <a:cs typeface="DejaVu Sans"/>
              </a:rPr>
              <a:t>3</a:t>
            </a:r>
          </a:p>
        </p:txBody>
      </p:sp>
      <p:sp>
        <p:nvSpPr>
          <p:cNvPr id="12" name="">
            <a:extLst xmlns:a="http://schemas.openxmlformats.org/drawingml/2006/main">
              <a:ext uri="{FF2B5EF4-FFF2-40B4-BE49-F238E27FC236}">
                <a16:creationId xmlns:a16="http://schemas.microsoft.com/office/drawing/2014/main" id="{F82C7634-2B12-47A1-A123-F5368D27B74B}"/>
              </a:ext>
            </a:extLst>
          </p:cNvPr>
          <p:cNvSpPr>
            <a:spLocks xmlns:a="http://schemas.openxmlformats.org/drawingml/2006/main" noGrp="1"/>
          </p:cNvSpPr>
          <p:nvPr/>
        </p:nvSpPr>
        <p:spPr>
          <a:xfrm xmlns:a="http://schemas.openxmlformats.org/drawingml/2006/main">
            <a:off x="1181100" y="42195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PILOTS</a:t>
            </a:r>
          </a:p>
        </p:txBody>
      </p:sp>
      <p:sp>
        <p:nvSpPr>
          <p:cNvPr id="13" name="">
            <a:extLst xmlns:a="http://schemas.openxmlformats.org/drawingml/2006/main">
              <a:ext uri="{FF2B5EF4-FFF2-40B4-BE49-F238E27FC236}">
                <a16:creationId xmlns:a16="http://schemas.microsoft.com/office/drawing/2014/main" id="{37B303F1-5F86-4C7D-AD11-F03E4C92EB27}"/>
              </a:ext>
            </a:extLst>
          </p:cNvPr>
          <p:cNvSpPr>
            <a:spLocks xmlns:a="http://schemas.openxmlformats.org/drawingml/2006/main" noGrp="1"/>
          </p:cNvSpPr>
          <p:nvPr/>
        </p:nvSpPr>
        <p:spPr>
          <a:xfrm xmlns:a="http://schemas.openxmlformats.org/drawingml/2006/main">
            <a:off x="3105150" y="417195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EFBF5"/>
                </a:solidFill>
                <a:latin typeface="DejaVu Sans"/>
                <a:ea typeface="DejaVu Sans"/>
                <a:cs typeface="DejaVu Sans"/>
              </a:defRPr>
            </a:pPr>
            <a:r>
              <a:rPr sz="1500" b="0">
                <a:solidFill>
                  <a:srgbClr val="EEFBF5"/>
                </a:solidFill>
                <a:latin typeface="DejaVu Sans"/>
                <a:ea typeface="DejaVu Sans"/>
                <a:cs typeface="DejaVu Sans"/>
              </a:rPr>
              <a:t>Deploy with selected institutions and document measurable outcomes.</a:t>
            </a:r>
          </a:p>
        </p:txBody>
      </p:sp>
      <p:sp>
        <p:nvSpPr>
          <p:cNvPr id="14" name="">
            <a:extLst xmlns:a="http://schemas.openxmlformats.org/drawingml/2006/main">
              <a:ext uri="{FF2B5EF4-FFF2-40B4-BE49-F238E27FC236}">
                <a16:creationId xmlns:a16="http://schemas.microsoft.com/office/drawing/2014/main" id="{8A1539E3-9B25-4488-9F8E-BCA4E484F4C2}"/>
              </a:ext>
            </a:extLst>
          </p:cNvPr>
          <p:cNvSpPr>
            <a:spLocks xmlns:a="http://schemas.openxmlformats.org/drawingml/2006/main" noGrp="1"/>
          </p:cNvSpPr>
          <p:nvPr/>
        </p:nvSpPr>
        <p:spPr>
          <a:xfrm xmlns:a="http://schemas.openxmlformats.org/drawingml/2006/main">
            <a:off x="609600" y="49720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9F39A"/>
                </a:solidFill>
                <a:latin typeface="DejaVu Sans"/>
                <a:ea typeface="DejaVu Sans"/>
                <a:cs typeface="DejaVu Sans"/>
              </a:defRPr>
            </a:pPr>
            <a:r>
              <a:rPr sz="2025" b="1">
                <a:solidFill>
                  <a:srgbClr val="49F39A"/>
                </a:solidFill>
                <a:latin typeface="DejaVu Sans"/>
                <a:ea typeface="DejaVu Sans"/>
                <a:cs typeface="DejaVu Sans"/>
              </a:rPr>
              <a:t>4</a:t>
            </a:r>
          </a:p>
        </p:txBody>
      </p:sp>
      <p:sp>
        <p:nvSpPr>
          <p:cNvPr id="15" name="">
            <a:extLst xmlns:a="http://schemas.openxmlformats.org/drawingml/2006/main">
              <a:ext uri="{FF2B5EF4-FFF2-40B4-BE49-F238E27FC236}">
                <a16:creationId xmlns:a16="http://schemas.microsoft.com/office/drawing/2014/main" id="{7B3E945C-C20D-48E1-95D5-0260BBC4B487}"/>
              </a:ext>
            </a:extLst>
          </p:cNvPr>
          <p:cNvSpPr>
            <a:spLocks xmlns:a="http://schemas.openxmlformats.org/drawingml/2006/main" noGrp="1"/>
          </p:cNvSpPr>
          <p:nvPr/>
        </p:nvSpPr>
        <p:spPr>
          <a:xfrm xmlns:a="http://schemas.openxmlformats.org/drawingml/2006/main">
            <a:off x="1181100" y="50006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2E9FF"/>
                </a:solidFill>
                <a:latin typeface="DejaVu Sans"/>
                <a:ea typeface="DejaVu Sans"/>
                <a:cs typeface="DejaVu Sans"/>
              </a:defRPr>
            </a:pPr>
            <a:r>
              <a:rPr sz="1125" b="1">
                <a:solidFill>
                  <a:srgbClr val="62E9FF"/>
                </a:solidFill>
                <a:latin typeface="DejaVu Sans"/>
                <a:ea typeface="DejaVu Sans"/>
                <a:cs typeface="DejaVu Sans"/>
              </a:rPr>
              <a:t>GO TO MARKET</a:t>
            </a:r>
          </a:p>
        </p:txBody>
      </p:sp>
      <p:sp>
        <p:nvSpPr>
          <p:cNvPr id="16" name="">
            <a:extLst xmlns:a="http://schemas.openxmlformats.org/drawingml/2006/main">
              <a:ext uri="{FF2B5EF4-FFF2-40B4-BE49-F238E27FC236}">
                <a16:creationId xmlns:a16="http://schemas.microsoft.com/office/drawing/2014/main" id="{43117089-1AB6-4A18-B5B2-A176755A75B6}"/>
              </a:ext>
            </a:extLst>
          </p:cNvPr>
          <p:cNvSpPr>
            <a:spLocks xmlns:a="http://schemas.openxmlformats.org/drawingml/2006/main" noGrp="1"/>
          </p:cNvSpPr>
          <p:nvPr/>
        </p:nvSpPr>
        <p:spPr>
          <a:xfrm xmlns:a="http://schemas.openxmlformats.org/drawingml/2006/main">
            <a:off x="3105150" y="495300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EFBF5"/>
                </a:solidFill>
                <a:latin typeface="DejaVu Sans"/>
                <a:ea typeface="DejaVu Sans"/>
                <a:cs typeface="DejaVu Sans"/>
              </a:defRPr>
            </a:pPr>
            <a:r>
              <a:rPr sz="1500" b="0">
                <a:solidFill>
                  <a:srgbClr val="EEFBF5"/>
                </a:solidFill>
                <a:latin typeface="DejaVu Sans"/>
                <a:ea typeface="DejaVu Sans"/>
                <a:cs typeface="DejaVu Sans"/>
              </a:rPr>
              <a:t>Define target segment, packaging, pricing and support model.</a:t>
            </a:r>
          </a:p>
        </p:txBody>
      </p:sp>
      <p:sp>
        <p:nvSpPr>
          <p:cNvPr id="17" name="">
            <a:extLst xmlns:a="http://schemas.openxmlformats.org/drawingml/2006/main">
              <a:ext uri="{FF2B5EF4-FFF2-40B4-BE49-F238E27FC236}">
                <a16:creationId xmlns:a16="http://schemas.microsoft.com/office/drawing/2014/main" id="{33AE767F-6F62-4863-84BC-ED979E043AC1}"/>
              </a:ext>
            </a:extLst>
          </p:cNvPr>
          <p:cNvSpPr>
            <a:spLocks xmlns:a="http://schemas.openxmlformats.org/drawingml/2006/main" noGrp="1"/>
          </p:cNvSpPr>
          <p:nvPr/>
        </p:nvSpPr>
        <p:spPr>
          <a:xfrm xmlns:a="http://schemas.openxmlformats.org/drawingml/2006/main">
            <a:off x="609600" y="5924550"/>
            <a:ext cx="10668000" cy="19050"/>
          </a:xfrm>
          <a:prstGeom xmlns:a="http://schemas.openxmlformats.org/drawingml/2006/main" prst="rect">
            <a:avLst/>
          </a:prstGeom>
          <a:solidFill xmlns:a="http://schemas.openxmlformats.org/drawingml/2006/main">
            <a:srgbClr val="23433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EE124C9-582E-40FF-B758-7CA14C3C369B}"/>
              </a:ext>
            </a:extLst>
          </p:cNvPr>
          <p:cNvSpPr>
            <a:spLocks xmlns:a="http://schemas.openxmlformats.org/drawingml/2006/main" noGrp="1"/>
          </p:cNvSpPr>
          <p:nvPr/>
        </p:nvSpPr>
        <p:spPr>
          <a:xfrm xmlns:a="http://schemas.openxmlformats.org/drawingml/2006/main">
            <a:off x="609600" y="61912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49F39A"/>
                </a:solidFill>
                <a:latin typeface="DejaVu Sans"/>
                <a:ea typeface="DejaVu Sans"/>
                <a:cs typeface="DejaVu Sans"/>
              </a:defRPr>
            </a:pPr>
            <a:r>
              <a:rPr sz="1575" b="1">
                <a:solidFill>
                  <a:srgbClr val="49F39A"/>
                </a:solidFill>
                <a:latin typeface="DejaVu Sans"/>
                <a:ea typeface="DejaVu Sans"/>
                <a:cs typeface="DejaVu Sans"/>
              </a:rPr>
              <a:t>Maia Chat and Maia RAG are online. The next milestone is commercial evidence.</a:t>
            </a:r>
          </a:p>
        </p:txBody>
      </p:sp>
      <p:sp>
        <p:nvSpPr>
          <p:cNvPr id="19" name="">
            <a:extLst xmlns:a="http://schemas.openxmlformats.org/drawingml/2006/main">
              <a:ext uri="{FF2B5EF4-FFF2-40B4-BE49-F238E27FC236}">
                <a16:creationId xmlns:a16="http://schemas.microsoft.com/office/drawing/2014/main" id="{C46B064A-8BF4-42BF-BFFA-B9DB92E6A998}"/>
              </a:ext>
            </a:extLst>
          </p:cNvPr>
          <p:cNvSpPr>
            <a:spLocks xmlns:a="http://schemas.openxmlformats.org/drawingml/2006/main" noGrp="1"/>
          </p:cNvSpPr>
          <p:nvPr/>
        </p:nvSpPr>
        <p:spPr>
          <a:xfrm xmlns:a="http://schemas.openxmlformats.org/drawingml/2006/main">
            <a:off x="11106150" y="63341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75" b="0">
                <a:solidFill>
                  <a:srgbClr val="9AB7AA"/>
                </a:solidFill>
                <a:latin typeface="DejaVu Sans"/>
                <a:ea typeface="DejaVu Sans"/>
                <a:cs typeface="DejaVu Sans"/>
              </a:defRPr>
            </a:pPr>
            <a:r>
              <a:rPr sz="975" b="0">
                <a:solidFill>
                  <a:srgbClr val="9AB7AA"/>
                </a:solidFill>
                <a:latin typeface="DejaVu Sans"/>
                <a:ea typeface="DejaVu Sans"/>
                <a:cs typeface="DejaVu Sans"/>
              </a:rPr>
              <a:t>08</a:t>
            </a:r>
          </a:p>
        </p:txBody>
      </p:sp>
    </p:spTree>
    <p:extLst>
      <p:ext uri="{BB962C8B-B14F-4D97-AF65-F5344CB8AC3E}">
        <p14:creationId xmlns:p14="http://schemas.microsoft.com/office/powerpoint/2010/main" val="9862325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2026-09-18T22:33:12.0970000Z</dcterms:created>
  <dcterms:modified xsi:type="dcterms:W3CDTF">2026-09-18T22:33:12.0970000Z</dcterms:modified>
</coreProperties>
</file>