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400027" cy="43200005"/>
  <p:notesSz cx="43200005" cy="3240002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00027" cy="56235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658368"/>
            <a:ext cx="2971800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61288" y="704088"/>
            <a:ext cx="2752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ENMC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5331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389888"/>
            <a:ext cx="22768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Open AI Ecosystem for Computational Modeling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Scientific Computing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310128"/>
            <a:ext cx="2999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8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Roberto Luiz Souza Monteiro  |  Universidade do Estado da Bahia (UNEB)  |  SENAI CIMATEC University Center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160520"/>
            <a:ext cx="2999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models • retrieval-augmented generation • local/HPC deployment • scientific applications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6172200"/>
            <a:ext cx="30294072" cy="2743200"/>
          </a:xfrm>
          <a:prstGeom prst="roundRect">
            <a:avLst>
              <a:gd name="adj" fmla="val 6667"/>
            </a:avLst>
          </a:prstGeom>
          <a:solidFill>
            <a:srgbClr val="E7F4F4"/>
          </a:solidFill>
          <a:ln w="15240">
            <a:solidFill>
              <a:srgbClr val="C7E8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6492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vision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6400800"/>
            <a:ext cx="2487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investigates how a vertically integrated, open AI stack can connect language-model training, scientific knowledge retrieval and computational tools while remaining deployable on local hardware and HPC infrastructure.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7662672"/>
            <a:ext cx="2487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reproducible AI infrastructure that can support research, education and computational modeling without depending on a single proprietary cloud service.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51560" y="9464040"/>
            <a:ext cx="9400032" cy="56235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9464040"/>
            <a:ext cx="128016" cy="562356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969264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MAIA?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1490472" y="10241280"/>
            <a:ext cx="8577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AI workflows are often fragmented across proprietary models, isolated RAG systems and cloud-only services. MAIA explores an integrated alternative: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508760" y="11475720"/>
            <a:ext cx="2331720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18488" y="11521440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11448288"/>
            <a:ext cx="5925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 components and reproducible pipelines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08760" y="12262104"/>
            <a:ext cx="2331720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18488" y="12307824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12234672"/>
            <a:ext cx="5925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inference and data control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08760" y="13048488"/>
            <a:ext cx="2331720" cy="530352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18488" y="13094208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13021056"/>
            <a:ext cx="5925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• Portuguese • Spanish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08760" y="13834872"/>
            <a:ext cx="2331720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18488" y="13880592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13807440"/>
            <a:ext cx="5925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connect LLMs with computational tools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1560" y="15544800"/>
            <a:ext cx="9400032" cy="566928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15544800"/>
            <a:ext cx="128016" cy="566928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71600" y="1577340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OBJECTIVES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1554480" y="16477488"/>
            <a:ext cx="438912" cy="438912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54480" y="16477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194560" y="16367760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 a compact multilingual foundation model from scratch.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1554480" y="17501616"/>
            <a:ext cx="438912" cy="438912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54480" y="17501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17391888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 domain models for computational modeling and academic tasks.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554480" y="18525744"/>
            <a:ext cx="438912" cy="438912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54480" y="18525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194560" y="18416016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RAG, symbolic/computational tools and conversational interfaces.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1554480" y="19549872"/>
            <a:ext cx="438912" cy="438912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54480" y="19549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2194560" y="19440144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the stack across local machines, edge nodes and HPC resources.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051560" y="21671280"/>
            <a:ext cx="9400032" cy="9646920"/>
          </a:xfrm>
          <a:prstGeom prst="roundRect">
            <a:avLst>
              <a:gd name="adj" fmla="val 1751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" y="21671280"/>
            <a:ext cx="128016" cy="964692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71600" y="2189988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LITE: PRETRAINING</a:t>
            </a:r>
            <a:endParaRPr lang="en-US" sz="2700" dirty="0"/>
          </a:p>
        </p:txBody>
      </p:sp>
      <p:sp>
        <p:nvSpPr>
          <p:cNvPr id="47" name="Shape 45"/>
          <p:cNvSpPr/>
          <p:nvPr/>
        </p:nvSpPr>
        <p:spPr>
          <a:xfrm>
            <a:off x="1527048" y="22512528"/>
            <a:ext cx="3566160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36776" y="2255824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354.8M parameters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276088" y="22512528"/>
            <a:ext cx="2057400" cy="530352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85816" y="22558248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GPT-like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98080" y="22512528"/>
            <a:ext cx="2331720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07808" y="22558248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50,257 vocab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527048" y="2336292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design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1527048" y="24003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</a:t>
            </a:r>
            <a:endParaRPr lang="en-US" sz="17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0" y="24003000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Wikipedia streams in EN / PT / ES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1527048" y="25081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3657600" y="25081992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300k optimization steps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1527048" y="261609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700" dirty="0"/>
          </a:p>
        </p:txBody>
      </p:sp>
      <p:sp>
        <p:nvSpPr>
          <p:cNvPr id="59" name="Text 57"/>
          <p:cNvSpPr txBox="1"/>
          <p:nvPr/>
        </p:nvSpPr>
        <p:spPr>
          <a:xfrm>
            <a:off x="3657600" y="26160984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experiments → A100 80 GB continuation</a:t>
            </a:r>
            <a:endParaRPr lang="en-US" sz="1700" dirty="0"/>
          </a:p>
        </p:txBody>
      </p:sp>
      <p:sp>
        <p:nvSpPr>
          <p:cNvPr id="60" name="Text 58"/>
          <p:cNvSpPr txBox="1"/>
          <p:nvPr/>
        </p:nvSpPr>
        <p:spPr>
          <a:xfrm>
            <a:off x="1527048" y="27239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Checkpointing</a:t>
            </a:r>
            <a:endParaRPr lang="en-US" sz="1700" dirty="0"/>
          </a:p>
        </p:txBody>
      </p:sp>
      <p:sp>
        <p:nvSpPr>
          <p:cNvPr id="61" name="Text 59"/>
          <p:cNvSpPr txBox="1"/>
          <p:nvPr/>
        </p:nvSpPr>
        <p:spPr>
          <a:xfrm>
            <a:off x="3657600" y="27239976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checkpoints with held-out evaluation</a:t>
            </a:r>
            <a:endParaRPr lang="en-US" sz="1700" dirty="0"/>
          </a:p>
        </p:txBody>
      </p:sp>
      <p:sp>
        <p:nvSpPr>
          <p:cNvPr id="62" name="Text 60"/>
          <p:cNvSpPr txBox="1"/>
          <p:nvPr/>
        </p:nvSpPr>
        <p:spPr>
          <a:xfrm>
            <a:off x="1527048" y="28318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phase</a:t>
            </a:r>
            <a:endParaRPr lang="en-US" sz="1700" dirty="0"/>
          </a:p>
        </p:txBody>
      </p:sp>
      <p:sp>
        <p:nvSpPr>
          <p:cNvPr id="63" name="Text 61"/>
          <p:cNvSpPr txBox="1"/>
          <p:nvPr/>
        </p:nvSpPr>
        <p:spPr>
          <a:xfrm>
            <a:off x="3657600" y="28318968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fine-tuning: conversation + Python + computational modeling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1508760" y="29644848"/>
            <a:ext cx="8485632" cy="1115568"/>
          </a:xfrm>
          <a:prstGeom prst="roundRect">
            <a:avLst>
              <a:gd name="adj" fmla="val 9836"/>
            </a:avLst>
          </a:prstGeom>
          <a:solidFill>
            <a:srgbClr val="F8FBFC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783080" y="29846016"/>
            <a:ext cx="7936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pretraining in progress; evaluation is checkpoint-based and separated from training data.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991088" y="9464040"/>
            <a:ext cx="9400032" cy="21854160"/>
          </a:xfrm>
          <a:prstGeom prst="roundRect">
            <a:avLst>
              <a:gd name="adj" fmla="val 1751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91088" y="9464040"/>
            <a:ext cx="128016" cy="2185416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1311128" y="969264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MAIA ECOSYSTEM</a:t>
            </a:r>
            <a:endParaRPr lang="en-US" sz="2700" dirty="0"/>
          </a:p>
        </p:txBody>
      </p:sp>
      <p:sp>
        <p:nvSpPr>
          <p:cNvPr id="69" name="Text 67"/>
          <p:cNvSpPr txBox="1"/>
          <p:nvPr/>
        </p:nvSpPr>
        <p:spPr>
          <a:xfrm>
            <a:off x="11448288" y="10195560"/>
            <a:ext cx="8485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layered architecture from model training to scientific applications</a:t>
            </a:r>
            <a:endParaRPr lang="en-US" sz="1900" dirty="0"/>
          </a:p>
        </p:txBody>
      </p:sp>
      <p:sp>
        <p:nvSpPr>
          <p:cNvPr id="70" name="Shape 68"/>
          <p:cNvSpPr/>
          <p:nvPr/>
        </p:nvSpPr>
        <p:spPr>
          <a:xfrm>
            <a:off x="11558016" y="11109960"/>
            <a:ext cx="8266176" cy="292608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5240">
            <a:solidFill>
              <a:srgbClr val="6D5BD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1887200" y="1133856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FOUNDATION &amp; DOMAIN MODELS</a:t>
            </a:r>
            <a:endParaRPr lang="en-US" sz="1900" dirty="0"/>
          </a:p>
        </p:txBody>
      </p:sp>
      <p:sp>
        <p:nvSpPr>
          <p:cNvPr id="72" name="Shape 70"/>
          <p:cNvSpPr/>
          <p:nvPr/>
        </p:nvSpPr>
        <p:spPr>
          <a:xfrm>
            <a:off x="11887200" y="12097512"/>
            <a:ext cx="3493008" cy="530352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1996928" y="1214323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Lite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15709392" y="12097512"/>
            <a:ext cx="3493008" cy="530352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5819120" y="1214323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Academic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11887200" y="12920472"/>
            <a:ext cx="3493008" cy="530352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1996928" y="1296619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Ollama-compatible inference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15691104" y="14081760"/>
            <a:ext cx="0" cy="301752"/>
          </a:xfrm>
          <a:prstGeom prst="line">
            <a:avLst/>
          </a:prstGeom>
          <a:noFill/>
          <a:ln w="3048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1558016" y="14493240"/>
            <a:ext cx="8266176" cy="3154680"/>
          </a:xfrm>
          <a:prstGeom prst="roundRect">
            <a:avLst>
              <a:gd name="adj" fmla="val 4638"/>
            </a:avLst>
          </a:prstGeom>
          <a:solidFill>
            <a:srgbClr val="E8F7F5"/>
          </a:solidFill>
          <a:ln w="15240">
            <a:solidFill>
              <a:srgbClr val="00A7A5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887200" y="1472184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KNOWLEDGE LAYER</a:t>
            </a:r>
            <a:endParaRPr lang="en-US" sz="1900" dirty="0"/>
          </a:p>
        </p:txBody>
      </p:sp>
      <p:sp>
        <p:nvSpPr>
          <p:cNvPr id="81" name="Shape 79"/>
          <p:cNvSpPr/>
          <p:nvPr/>
        </p:nvSpPr>
        <p:spPr>
          <a:xfrm>
            <a:off x="11887200" y="15480792"/>
            <a:ext cx="3493008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1996928" y="155265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RAG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15709392" y="15480792"/>
            <a:ext cx="3493008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5819120" y="155265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ingestion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11887200" y="16303752"/>
            <a:ext cx="3493008" cy="530352"/>
          </a:xfrm>
          <a:prstGeom prst="round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1996928" y="163494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+ vector search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15691104" y="17693640"/>
            <a:ext cx="0" cy="347472"/>
          </a:xfrm>
          <a:prstGeom prst="line">
            <a:avLst/>
          </a:prstGeom>
          <a:noFill/>
          <a:ln w="3048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1558016" y="18150840"/>
            <a:ext cx="8266176" cy="3154680"/>
          </a:xfrm>
          <a:prstGeom prst="roundRect">
            <a:avLst>
              <a:gd name="adj" fmla="val 4638"/>
            </a:avLst>
          </a:prstGeom>
          <a:solidFill>
            <a:srgbClr val="FFF4E7"/>
          </a:solidFill>
          <a:ln w="15240">
            <a:solidFill>
              <a:srgbClr val="E89B3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1887200" y="1837944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9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INTERACTION &amp; TOOLS</a:t>
            </a:r>
            <a:endParaRPr lang="en-US" sz="1900" dirty="0"/>
          </a:p>
        </p:txBody>
      </p:sp>
      <p:sp>
        <p:nvSpPr>
          <p:cNvPr id="90" name="Shape 88"/>
          <p:cNvSpPr/>
          <p:nvPr/>
        </p:nvSpPr>
        <p:spPr>
          <a:xfrm>
            <a:off x="11887200" y="19138392"/>
            <a:ext cx="3493008" cy="530352"/>
          </a:xfrm>
          <a:prstGeom prst="roundRect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1996928" y="191841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Chat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15709392" y="19138392"/>
            <a:ext cx="3493008" cy="530352"/>
          </a:xfrm>
          <a:prstGeom prst="roundRect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5819120" y="191841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 / symbolic tools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11887200" y="19961352"/>
            <a:ext cx="3493008" cy="530352"/>
          </a:xfrm>
          <a:prstGeom prst="roundRect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1996928" y="200070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plug-ins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15691104" y="21351240"/>
            <a:ext cx="0" cy="347472"/>
          </a:xfrm>
          <a:prstGeom prst="line">
            <a:avLst/>
          </a:prstGeom>
          <a:noFill/>
          <a:ln w="3048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1558016" y="21808440"/>
            <a:ext cx="8266176" cy="3154680"/>
          </a:xfrm>
          <a:prstGeom prst="roundRect">
            <a:avLst>
              <a:gd name="adj" fmla="val 4638"/>
            </a:avLst>
          </a:prstGeom>
          <a:solidFill>
            <a:srgbClr val="EEF7F1"/>
          </a:solidFill>
          <a:ln w="15240">
            <a:solidFill>
              <a:srgbClr val="2E9B6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887200" y="2203704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9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APPLICATIONS</a:t>
            </a:r>
            <a:endParaRPr lang="en-US" sz="1900" dirty="0"/>
          </a:p>
        </p:txBody>
      </p:sp>
      <p:sp>
        <p:nvSpPr>
          <p:cNvPr id="99" name="Shape 97"/>
          <p:cNvSpPr/>
          <p:nvPr/>
        </p:nvSpPr>
        <p:spPr>
          <a:xfrm>
            <a:off x="11887200" y="22795992"/>
            <a:ext cx="3493008" cy="530352"/>
          </a:xfrm>
          <a:prstGeom prst="round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1996928" y="228417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modeling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15709392" y="22795992"/>
            <a:ext cx="3493008" cy="530352"/>
          </a:xfrm>
          <a:prstGeom prst="round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5819120" y="228417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11887200" y="23618952"/>
            <a:ext cx="3493008" cy="530352"/>
          </a:xfrm>
          <a:prstGeom prst="round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1996928" y="236646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workflows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15691104" y="25008840"/>
            <a:ext cx="0" cy="347472"/>
          </a:xfrm>
          <a:prstGeom prst="line">
            <a:avLst/>
          </a:prstGeom>
          <a:noFill/>
          <a:ln w="3048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1558016" y="25466040"/>
            <a:ext cx="8266176" cy="4434840"/>
          </a:xfrm>
          <a:prstGeom prst="roundRect">
            <a:avLst>
              <a:gd name="adj" fmla="val 3299"/>
            </a:avLst>
          </a:prstGeom>
          <a:solidFill>
            <a:srgbClr val="EEF2F5"/>
          </a:solidFill>
          <a:ln w="15240">
            <a:solidFill>
              <a:srgbClr val="0B1F33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1887200" y="2569464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DEPLOYMENT FABRIC</a:t>
            </a:r>
            <a:endParaRPr lang="en-US" sz="1900" dirty="0"/>
          </a:p>
        </p:txBody>
      </p:sp>
      <p:sp>
        <p:nvSpPr>
          <p:cNvPr id="108" name="Shape 106"/>
          <p:cNvSpPr/>
          <p:nvPr/>
        </p:nvSpPr>
        <p:spPr>
          <a:xfrm>
            <a:off x="11887200" y="26453592"/>
            <a:ext cx="3493008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1996928" y="264993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Edge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15709392" y="26453592"/>
            <a:ext cx="3493008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5819120" y="264993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Linux nodes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11887200" y="27276552"/>
            <a:ext cx="3493008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1996928" y="273222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ingress via WireGuard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15709392" y="27276552"/>
            <a:ext cx="3493008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5819120" y="273222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HPC / accelerator resources</a:t>
            </a:r>
            <a:endParaRPr lang="en-US" sz="1400" dirty="0"/>
          </a:p>
        </p:txBody>
      </p:sp>
      <p:sp>
        <p:nvSpPr>
          <p:cNvPr id="116" name="Text 114"/>
          <p:cNvSpPr txBox="1"/>
          <p:nvPr/>
        </p:nvSpPr>
        <p:spPr>
          <a:xfrm>
            <a:off x="11631168" y="30193488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→ RETRIEVE → REASON / COMPUTE → DEPLOY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21031200" y="9464040"/>
            <a:ext cx="9400032" cy="75438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1031200" y="9464040"/>
            <a:ext cx="128016" cy="754380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1351240" y="969264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</a:t>
            </a:r>
            <a:endParaRPr lang="en-US" sz="2700" dirty="0"/>
          </a:p>
        </p:txBody>
      </p:sp>
      <p:sp>
        <p:nvSpPr>
          <p:cNvPr id="120" name="Text 118"/>
          <p:cNvSpPr txBox="1"/>
          <p:nvPr/>
        </p:nvSpPr>
        <p:spPr>
          <a:xfrm>
            <a:off x="21488400" y="10287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Chat</a:t>
            </a:r>
            <a:endParaRPr lang="en-US" sz="1800" dirty="0"/>
          </a:p>
        </p:txBody>
      </p:sp>
      <p:sp>
        <p:nvSpPr>
          <p:cNvPr id="121" name="Text 119"/>
          <p:cNvSpPr txBox="1"/>
          <p:nvPr/>
        </p:nvSpPr>
        <p:spPr>
          <a:xfrm>
            <a:off x="23774400" y="10168128"/>
            <a:ext cx="6199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conversational interface backed by local LLM inference.</a:t>
            </a:r>
            <a:endParaRPr lang="en-US" sz="1700" dirty="0"/>
          </a:p>
        </p:txBody>
      </p:sp>
      <p:sp>
        <p:nvSpPr>
          <p:cNvPr id="122" name="Text 120"/>
          <p:cNvSpPr txBox="1"/>
          <p:nvPr/>
        </p:nvSpPr>
        <p:spPr>
          <a:xfrm>
            <a:off x="21488400" y="11768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RAG</a:t>
            </a:r>
            <a:endParaRPr lang="en-US" sz="1800" dirty="0"/>
          </a:p>
        </p:txBody>
      </p:sp>
      <p:sp>
        <p:nvSpPr>
          <p:cNvPr id="123" name="Text 121"/>
          <p:cNvSpPr txBox="1"/>
          <p:nvPr/>
        </p:nvSpPr>
        <p:spPr>
          <a:xfrm>
            <a:off x="23774400" y="11649456"/>
            <a:ext cx="6199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ingestion architecture for PDFs, Office files and source code.</a:t>
            </a:r>
            <a:endParaRPr lang="en-US" sz="1700" dirty="0"/>
          </a:p>
        </p:txBody>
      </p:sp>
      <p:sp>
        <p:nvSpPr>
          <p:cNvPr id="124" name="Text 122"/>
          <p:cNvSpPr txBox="1"/>
          <p:nvPr/>
        </p:nvSpPr>
        <p:spPr>
          <a:xfrm>
            <a:off x="21488400" y="132496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Edge</a:t>
            </a:r>
            <a:endParaRPr lang="en-US" sz="1800" dirty="0"/>
          </a:p>
        </p:txBody>
      </p:sp>
      <p:sp>
        <p:nvSpPr>
          <p:cNvPr id="125" name="Text 123"/>
          <p:cNvSpPr txBox="1"/>
          <p:nvPr/>
        </p:nvSpPr>
        <p:spPr>
          <a:xfrm>
            <a:off x="23774400" y="13130784"/>
            <a:ext cx="6199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gateway + WireGuard tunnel to on-premise application nodes.</a:t>
            </a:r>
            <a:endParaRPr lang="en-US" sz="1700" dirty="0"/>
          </a:p>
        </p:txBody>
      </p:sp>
      <p:sp>
        <p:nvSpPr>
          <p:cNvPr id="126" name="Text 124"/>
          <p:cNvSpPr txBox="1"/>
          <p:nvPr/>
        </p:nvSpPr>
        <p:spPr>
          <a:xfrm>
            <a:off x="21488400" y="147309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tools</a:t>
            </a:r>
            <a:endParaRPr lang="en-US" sz="1800" dirty="0"/>
          </a:p>
        </p:txBody>
      </p:sp>
      <p:sp>
        <p:nvSpPr>
          <p:cNvPr id="127" name="Text 125"/>
          <p:cNvSpPr txBox="1"/>
          <p:nvPr/>
        </p:nvSpPr>
        <p:spPr>
          <a:xfrm>
            <a:off x="23774400" y="14612112"/>
            <a:ext cx="6199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bridge from natural language to symbolic and numerical computation.</a:t>
            </a:r>
            <a:endParaRPr lang="en-US" sz="1700" dirty="0"/>
          </a:p>
        </p:txBody>
      </p:sp>
      <p:sp>
        <p:nvSpPr>
          <p:cNvPr id="128" name="Shape 126"/>
          <p:cNvSpPr/>
          <p:nvPr/>
        </p:nvSpPr>
        <p:spPr>
          <a:xfrm>
            <a:off x="21031200" y="17465040"/>
            <a:ext cx="9400032" cy="6537960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1031200" y="17465040"/>
            <a:ext cx="128016" cy="653796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21351240" y="1769364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FINE-TUNING PIPELINE</a:t>
            </a:r>
            <a:endParaRPr lang="en-US" sz="2700" dirty="0"/>
          </a:p>
        </p:txBody>
      </p:sp>
      <p:sp>
        <p:nvSpPr>
          <p:cNvPr id="131" name="Shape 129"/>
          <p:cNvSpPr/>
          <p:nvPr/>
        </p:nvSpPr>
        <p:spPr>
          <a:xfrm>
            <a:off x="21534120" y="18333720"/>
            <a:ext cx="384048" cy="384048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22128480" y="18242280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scientific papers</a:t>
            </a:r>
            <a:endParaRPr lang="en-US" sz="1700" dirty="0"/>
          </a:p>
        </p:txBody>
      </p:sp>
      <p:sp>
        <p:nvSpPr>
          <p:cNvPr id="133" name="Shape 131"/>
          <p:cNvSpPr/>
          <p:nvPr/>
        </p:nvSpPr>
        <p:spPr>
          <a:xfrm>
            <a:off x="21726144" y="18717768"/>
            <a:ext cx="0" cy="45720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1534120" y="19184112"/>
            <a:ext cx="384048" cy="384048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22128480" y="19092672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 &amp; chunking</a:t>
            </a:r>
            <a:endParaRPr lang="en-US" sz="1700" dirty="0"/>
          </a:p>
        </p:txBody>
      </p:sp>
      <p:sp>
        <p:nvSpPr>
          <p:cNvPr id="136" name="Shape 134"/>
          <p:cNvSpPr/>
          <p:nvPr/>
        </p:nvSpPr>
        <p:spPr>
          <a:xfrm>
            <a:off x="21726144" y="19568160"/>
            <a:ext cx="0" cy="45720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534120" y="20034504"/>
            <a:ext cx="384048" cy="384048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22128480" y="19943064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 Q&amp;A generation</a:t>
            </a:r>
            <a:endParaRPr lang="en-US" sz="1700" dirty="0"/>
          </a:p>
        </p:txBody>
      </p:sp>
      <p:sp>
        <p:nvSpPr>
          <p:cNvPr id="139" name="Shape 137"/>
          <p:cNvSpPr/>
          <p:nvPr/>
        </p:nvSpPr>
        <p:spPr>
          <a:xfrm>
            <a:off x="21726144" y="20418552"/>
            <a:ext cx="0" cy="45720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1534120" y="20884896"/>
            <a:ext cx="384048" cy="38404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22128480" y="20793456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filtering</a:t>
            </a:r>
            <a:endParaRPr lang="en-US" sz="1700" dirty="0"/>
          </a:p>
        </p:txBody>
      </p:sp>
      <p:sp>
        <p:nvSpPr>
          <p:cNvPr id="142" name="Shape 140"/>
          <p:cNvSpPr/>
          <p:nvPr/>
        </p:nvSpPr>
        <p:spPr>
          <a:xfrm>
            <a:off x="21726144" y="21268944"/>
            <a:ext cx="0" cy="45720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1534120" y="21735288"/>
            <a:ext cx="384048" cy="38404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22128480" y="2164384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→ PT-BR / ES translation</a:t>
            </a:r>
            <a:endParaRPr lang="en-US" sz="1700" dirty="0"/>
          </a:p>
        </p:txBody>
      </p:sp>
      <p:sp>
        <p:nvSpPr>
          <p:cNvPr id="145" name="Shape 143"/>
          <p:cNvSpPr/>
          <p:nvPr/>
        </p:nvSpPr>
        <p:spPr>
          <a:xfrm>
            <a:off x="21726144" y="22119336"/>
            <a:ext cx="0" cy="457200"/>
          </a:xfrm>
          <a:prstGeom prst="line">
            <a:avLst/>
          </a:prstGeom>
          <a:noFill/>
          <a:ln w="25400">
            <a:solidFill>
              <a:srgbClr val="D7E2E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1534120" y="22585680"/>
            <a:ext cx="384048" cy="38404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22128480" y="22494240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supervised fine-tuning</a:t>
            </a:r>
            <a:endParaRPr lang="en-US" sz="1700" dirty="0"/>
          </a:p>
        </p:txBody>
      </p:sp>
      <p:sp>
        <p:nvSpPr>
          <p:cNvPr id="148" name="Shape 146"/>
          <p:cNvSpPr/>
          <p:nvPr/>
        </p:nvSpPr>
        <p:spPr>
          <a:xfrm>
            <a:off x="21031200" y="24460200"/>
            <a:ext cx="9400032" cy="6858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1031200" y="24460200"/>
            <a:ext cx="128016" cy="685800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21351240" y="24688800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CONTRIBUTIONS</a:t>
            </a:r>
            <a:endParaRPr lang="en-US" sz="2700" dirty="0"/>
          </a:p>
        </p:txBody>
      </p:sp>
      <p:sp>
        <p:nvSpPr>
          <p:cNvPr id="151" name="Text 149"/>
          <p:cNvSpPr txBox="1"/>
          <p:nvPr/>
        </p:nvSpPr>
        <p:spPr>
          <a:xfrm>
            <a:off x="21488400" y="2537460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52" name="Text 150"/>
          <p:cNvSpPr txBox="1"/>
          <p:nvPr/>
        </p:nvSpPr>
        <p:spPr>
          <a:xfrm>
            <a:off x="22265640" y="25255728"/>
            <a:ext cx="7708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multilingual model trained under a documented pipeline.</a:t>
            </a:r>
            <a:endParaRPr lang="en-US" sz="1700" dirty="0"/>
          </a:p>
        </p:txBody>
      </p:sp>
      <p:sp>
        <p:nvSpPr>
          <p:cNvPr id="153" name="Text 151"/>
          <p:cNvSpPr txBox="1"/>
          <p:nvPr/>
        </p:nvSpPr>
        <p:spPr>
          <a:xfrm>
            <a:off x="21488400" y="266090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54" name="Text 152"/>
          <p:cNvSpPr txBox="1"/>
          <p:nvPr/>
        </p:nvSpPr>
        <p:spPr>
          <a:xfrm>
            <a:off x="22265640" y="26490168"/>
            <a:ext cx="7708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RAG layer for scientific and educational corpora.</a:t>
            </a:r>
            <a:endParaRPr lang="en-US" sz="1700" dirty="0"/>
          </a:p>
        </p:txBody>
      </p:sp>
      <p:sp>
        <p:nvSpPr>
          <p:cNvPr id="155" name="Text 153"/>
          <p:cNvSpPr txBox="1"/>
          <p:nvPr/>
        </p:nvSpPr>
        <p:spPr>
          <a:xfrm>
            <a:off x="21488400" y="2784348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56" name="Text 154"/>
          <p:cNvSpPr txBox="1"/>
          <p:nvPr/>
        </p:nvSpPr>
        <p:spPr>
          <a:xfrm>
            <a:off x="22265640" y="27724608"/>
            <a:ext cx="7708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open deployment architecture spanning edge, local and HPC resources.</a:t>
            </a:r>
            <a:endParaRPr lang="en-US" sz="1700" dirty="0"/>
          </a:p>
        </p:txBody>
      </p:sp>
      <p:sp>
        <p:nvSpPr>
          <p:cNvPr id="157" name="Text 155"/>
          <p:cNvSpPr txBox="1"/>
          <p:nvPr/>
        </p:nvSpPr>
        <p:spPr>
          <a:xfrm>
            <a:off x="21488400" y="2907792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158" name="Text 156"/>
          <p:cNvSpPr txBox="1"/>
          <p:nvPr/>
        </p:nvSpPr>
        <p:spPr>
          <a:xfrm>
            <a:off x="22265640" y="28959048"/>
            <a:ext cx="7708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platform for experiments connecting LLMs to computational modeling tools.</a:t>
            </a:r>
            <a:endParaRPr lang="en-US" sz="1700" dirty="0"/>
          </a:p>
        </p:txBody>
      </p:sp>
      <p:sp>
        <p:nvSpPr>
          <p:cNvPr id="159" name="Shape 157"/>
          <p:cNvSpPr/>
          <p:nvPr/>
        </p:nvSpPr>
        <p:spPr>
          <a:xfrm>
            <a:off x="1051560" y="31821120"/>
            <a:ext cx="30294072" cy="6629400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 w="15240">
            <a:solidFill>
              <a:srgbClr val="D7E2E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51560" y="31821120"/>
            <a:ext cx="128016" cy="662940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371600" y="32049720"/>
            <a:ext cx="2969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LANGUAGE MODELS TO COMPUTATIONAL SCIENCE</a:t>
            </a:r>
            <a:endParaRPr lang="en-US" sz="2700" dirty="0"/>
          </a:p>
        </p:txBody>
      </p:sp>
      <p:sp>
        <p:nvSpPr>
          <p:cNvPr id="162" name="Text 160"/>
          <p:cNvSpPr txBox="1"/>
          <p:nvPr/>
        </p:nvSpPr>
        <p:spPr>
          <a:xfrm>
            <a:off x="1508760" y="32644080"/>
            <a:ext cx="2916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is designed as an experimental bridge between generative models and executable scientific workflows.</a:t>
            </a:r>
            <a:endParaRPr lang="en-US" sz="2200" dirty="0"/>
          </a:p>
        </p:txBody>
      </p:sp>
      <p:sp>
        <p:nvSpPr>
          <p:cNvPr id="163" name="Shape 161"/>
          <p:cNvSpPr/>
          <p:nvPr/>
        </p:nvSpPr>
        <p:spPr>
          <a:xfrm>
            <a:off x="1600200" y="33832800"/>
            <a:ext cx="539496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240">
            <a:solidFill>
              <a:srgbClr val="6D5BD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776472" y="34216848"/>
            <a:ext cx="1005840" cy="1005840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3776472" y="342168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166" name="Text 164"/>
          <p:cNvSpPr txBox="1"/>
          <p:nvPr/>
        </p:nvSpPr>
        <p:spPr>
          <a:xfrm>
            <a:off x="1920240" y="35368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</a:t>
            </a:r>
            <a:endParaRPr lang="en-US" sz="1800" dirty="0"/>
          </a:p>
        </p:txBody>
      </p:sp>
      <p:sp>
        <p:nvSpPr>
          <p:cNvPr id="167" name="Text 165"/>
          <p:cNvSpPr txBox="1"/>
          <p:nvPr/>
        </p:nvSpPr>
        <p:spPr>
          <a:xfrm>
            <a:off x="1920240" y="35917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documents, research context</a:t>
            </a:r>
            <a:endParaRPr lang="en-US" sz="1400" dirty="0"/>
          </a:p>
        </p:txBody>
      </p:sp>
      <p:sp>
        <p:nvSpPr>
          <p:cNvPr id="168" name="Shape 166"/>
          <p:cNvSpPr/>
          <p:nvPr/>
        </p:nvSpPr>
        <p:spPr>
          <a:xfrm>
            <a:off x="7040880" y="35368992"/>
            <a:ext cx="256032" cy="0"/>
          </a:xfrm>
          <a:prstGeom prst="line">
            <a:avLst/>
          </a:prstGeom>
          <a:noFill/>
          <a:ln w="2794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7342632" y="33832800"/>
            <a:ext cx="539496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240">
            <a:solidFill>
              <a:srgbClr val="00A7A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518904" y="34216848"/>
            <a:ext cx="1005840" cy="1005840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9518904" y="342168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72" name="Text 170"/>
          <p:cNvSpPr txBox="1"/>
          <p:nvPr/>
        </p:nvSpPr>
        <p:spPr>
          <a:xfrm>
            <a:off x="7662672" y="35368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173" name="Text 171"/>
          <p:cNvSpPr txBox="1"/>
          <p:nvPr/>
        </p:nvSpPr>
        <p:spPr>
          <a:xfrm>
            <a:off x="7662672" y="35917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corpus + metadata + embeddings</a:t>
            </a:r>
            <a:endParaRPr lang="en-US" sz="1400" dirty="0"/>
          </a:p>
        </p:txBody>
      </p:sp>
      <p:sp>
        <p:nvSpPr>
          <p:cNvPr id="174" name="Shape 172"/>
          <p:cNvSpPr/>
          <p:nvPr/>
        </p:nvSpPr>
        <p:spPr>
          <a:xfrm>
            <a:off x="12783312" y="35368992"/>
            <a:ext cx="256032" cy="0"/>
          </a:xfrm>
          <a:prstGeom prst="line">
            <a:avLst/>
          </a:prstGeom>
          <a:noFill/>
          <a:ln w="2794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13085064" y="33832800"/>
            <a:ext cx="539496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240">
            <a:solidFill>
              <a:srgbClr val="0B1F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5261336" y="34216848"/>
            <a:ext cx="1005840" cy="100584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15261336" y="342168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78" name="Text 176"/>
          <p:cNvSpPr txBox="1"/>
          <p:nvPr/>
        </p:nvSpPr>
        <p:spPr>
          <a:xfrm>
            <a:off x="13405104" y="35368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800" dirty="0"/>
          </a:p>
        </p:txBody>
      </p:sp>
      <p:sp>
        <p:nvSpPr>
          <p:cNvPr id="179" name="Text 177"/>
          <p:cNvSpPr txBox="1"/>
          <p:nvPr/>
        </p:nvSpPr>
        <p:spPr>
          <a:xfrm>
            <a:off x="13405104" y="35917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Maia / compatible local LLMs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18525744" y="35368992"/>
            <a:ext cx="256032" cy="0"/>
          </a:xfrm>
          <a:prstGeom prst="line">
            <a:avLst/>
          </a:prstGeom>
          <a:noFill/>
          <a:ln w="2794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18827496" y="33832800"/>
            <a:ext cx="539496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240">
            <a:solidFill>
              <a:srgbClr val="E89B3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1003768" y="34216848"/>
            <a:ext cx="1005840" cy="100584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21003768" y="342168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184" name="Text 182"/>
          <p:cNvSpPr txBox="1"/>
          <p:nvPr/>
        </p:nvSpPr>
        <p:spPr>
          <a:xfrm>
            <a:off x="19147536" y="35368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</a:t>
            </a:r>
            <a:endParaRPr lang="en-US" sz="1800" dirty="0"/>
          </a:p>
        </p:txBody>
      </p:sp>
      <p:sp>
        <p:nvSpPr>
          <p:cNvPr id="185" name="Text 183"/>
          <p:cNvSpPr txBox="1"/>
          <p:nvPr/>
        </p:nvSpPr>
        <p:spPr>
          <a:xfrm>
            <a:off x="19147536" y="35917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Symbolic math • code • domain tools</a:t>
            </a:r>
            <a:endParaRPr lang="en-US" sz="1400" dirty="0"/>
          </a:p>
        </p:txBody>
      </p:sp>
      <p:sp>
        <p:nvSpPr>
          <p:cNvPr id="186" name="Shape 184"/>
          <p:cNvSpPr/>
          <p:nvPr/>
        </p:nvSpPr>
        <p:spPr>
          <a:xfrm>
            <a:off x="24268176" y="35368992"/>
            <a:ext cx="256032" cy="0"/>
          </a:xfrm>
          <a:prstGeom prst="line">
            <a:avLst/>
          </a:prstGeom>
          <a:noFill/>
          <a:ln w="27940">
            <a:solidFill>
              <a:srgbClr val="00A7A5"/>
            </a:solidFill>
            <a:prstDash val="solid"/>
            <a:headEnd type="none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24569928" y="33832800"/>
            <a:ext cx="539496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5240">
            <a:solidFill>
              <a:srgbClr val="2E9B6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6746200" y="34216848"/>
            <a:ext cx="1005840" cy="1005840"/>
          </a:xfrm>
          <a:prstGeom prst="ellipse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26746200" y="342168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190" name="Text 188"/>
          <p:cNvSpPr txBox="1"/>
          <p:nvPr/>
        </p:nvSpPr>
        <p:spPr>
          <a:xfrm>
            <a:off x="24889968" y="353689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91" name="Text 189"/>
          <p:cNvSpPr txBox="1"/>
          <p:nvPr/>
        </p:nvSpPr>
        <p:spPr>
          <a:xfrm>
            <a:off x="24889968" y="35917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Answers, equations, plots and traceable context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0" y="38953440"/>
            <a:ext cx="32400027" cy="4246565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1051560" y="39392352"/>
            <a:ext cx="2221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RESEARCH • OPEN INFRASTRUCTURE • LOCAL-FIRST AI</a:t>
            </a:r>
            <a:endParaRPr lang="en-US" sz="2300" dirty="0"/>
          </a:p>
        </p:txBody>
      </p:sp>
      <p:sp>
        <p:nvSpPr>
          <p:cNvPr id="194" name="Text 192"/>
          <p:cNvSpPr txBox="1"/>
          <p:nvPr/>
        </p:nvSpPr>
        <p:spPr>
          <a:xfrm>
            <a:off x="1051560" y="40233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site</a:t>
            </a:r>
            <a:endParaRPr lang="en-US" sz="1500" dirty="0"/>
          </a:p>
        </p:txBody>
      </p:sp>
      <p:sp>
        <p:nvSpPr>
          <p:cNvPr id="195" name="Text 193"/>
          <p:cNvSpPr txBox="1"/>
          <p:nvPr/>
        </p:nvSpPr>
        <p:spPr>
          <a:xfrm>
            <a:off x="1051560" y="40645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www.maiaplatform.org</a:t>
            </a:r>
            <a:endParaRPr lang="en-US" sz="2200" dirty="0"/>
          </a:p>
        </p:txBody>
      </p:sp>
      <p:sp>
        <p:nvSpPr>
          <p:cNvPr id="196" name="Text 194"/>
          <p:cNvSpPr txBox="1"/>
          <p:nvPr/>
        </p:nvSpPr>
        <p:spPr>
          <a:xfrm>
            <a:off x="1051560" y="41468040"/>
            <a:ext cx="2176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8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Keywords: LLM • RAG • computational modeling • scientific AI • edge computing • HPC</a:t>
            </a:r>
            <a:endParaRPr lang="en-US" sz="1600" dirty="0"/>
          </a:p>
        </p:txBody>
      </p:sp>
      <p:pic>
        <p:nvPicPr>
          <p:cNvPr id="197" name="Image 0" descr="/mnt/data/maia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6240" y="39319200"/>
            <a:ext cx="3154680" cy="3154680"/>
          </a:xfrm>
          <a:prstGeom prst="rect">
            <a:avLst/>
          </a:prstGeom>
        </p:spPr>
      </p:pic>
      <p:sp>
        <p:nvSpPr>
          <p:cNvPr id="198" name="Text 195"/>
          <p:cNvSpPr txBox="1"/>
          <p:nvPr/>
        </p:nvSpPr>
        <p:spPr>
          <a:xfrm>
            <a:off x="26289000" y="425013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5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TO EXPLORE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Maia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 - An Open AI Ecosystem for Computational Modeling and Scientific Computing</dc:title>
  <dc:subject>ENMC 2026 scientific poster - Maia Project</dc:subject>
  <dc:creator>Roberto Luiz Souza Monteiro</dc:creator>
  <cp:lastModifiedBy>Roberto Luiz Souza Monteiro</cp:lastModifiedBy>
  <cp:revision>1</cp:revision>
  <dcterms:created xsi:type="dcterms:W3CDTF">2026-09-27T22:43:36Z</dcterms:created>
  <dcterms:modified xsi:type="dcterms:W3CDTF">2026-09-27T22:43:36Z</dcterms:modified>
</cp:coreProperties>
</file>